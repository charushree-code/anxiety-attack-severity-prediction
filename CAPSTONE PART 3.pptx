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ulfs Display" charset="1" panose="00000500000000000000"/>
      <p:regular r:id="rId19"/>
    </p:embeddedFont>
    <p:embeddedFont>
      <p:font typeface="DM Sans" charset="1" panose="00000000000000000000"/>
      <p:regular r:id="rId20"/>
    </p:embeddedFont>
    <p:embeddedFont>
      <p:font typeface="Canva Sans Bold" charset="1" panose="020B0803030501040103"/>
      <p:regular r:id="rId21"/>
    </p:embeddedFont>
    <p:embeddedFont>
      <p:font typeface="Canva Sans" charset="1" panose="020B05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7.png" Type="http://schemas.openxmlformats.org/officeDocument/2006/relationships/image"/><Relationship Id="rId12" Target="../media/image28.png" Type="http://schemas.openxmlformats.org/officeDocument/2006/relationships/image"/><Relationship Id="rId13" Target="../media/image29.png" Type="http://schemas.openxmlformats.org/officeDocument/2006/relationships/image"/><Relationship Id="rId14" Target="../media/image30.png" Type="http://schemas.openxmlformats.org/officeDocument/2006/relationships/image"/><Relationship Id="rId15" Target="../media/image31.png" Type="http://schemas.openxmlformats.org/officeDocument/2006/relationships/image"/><Relationship Id="rId16" Target="../media/image32.pn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kaggle.com/datasets/arshmankhalid/panic-attacks-ml-ready-dataset/data" TargetMode="External" Type="http://schemas.openxmlformats.org/officeDocument/2006/relationships/hyperlink"/><Relationship Id="rId11" Target="https://www.kaggle.com/datasets/arshmankhalid/panic-attacks-ml-ready-dataset/data" TargetMode="External" Type="http://schemas.openxmlformats.org/officeDocument/2006/relationships/hyperlink"/><Relationship Id="rId12" Target="https://www.kaggle.com/datasets/arshmankhalid/panic-attacks-ml-ready-dataset/data" TargetMode="External" Type="http://schemas.openxmlformats.org/officeDocument/2006/relationships/hyperlink"/><Relationship Id="rId13" Target="https://www.kaggle.com/datasets/arshmankhalid/panic-attacks-ml-ready-dataset/data" TargetMode="External" Type="http://schemas.openxmlformats.org/officeDocument/2006/relationships/hyperlink"/><Relationship Id="rId14" Target="https://www.kaggle.com/datasets/arshmankhalid/panic-attacks-ml-ready-dataset/data" TargetMode="External" Type="http://schemas.openxmlformats.org/officeDocument/2006/relationships/hyperlink"/><Relationship Id="rId15" Target="https://www.kaggle.com/datasets/arshmankhalid/panic-attacks-ml-ready-dataset/data" TargetMode="External" Type="http://schemas.openxmlformats.org/officeDocument/2006/relationships/hyperlink"/><Relationship Id="rId16" Target="https://www.kaggle.com/datasets/arshmankhalid/panic-attacks-ml-ready-dataset/data" TargetMode="External" Type="http://schemas.openxmlformats.org/officeDocument/2006/relationships/hyperlink"/><Relationship Id="rId17" Target="../media/image12.png" Type="http://schemas.openxmlformats.org/officeDocument/2006/relationships/image"/><Relationship Id="rId18" Target="../media/image13.svg" Type="http://schemas.openxmlformats.org/officeDocument/2006/relationships/image"/><Relationship Id="rId2" Target="../media/image1.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https://www.kaggle.com/datasets/arshmankhalid/panic-attacks-ml-ready-dataset/data"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2" Target="../media/image1.pn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810691" y="2376477"/>
            <a:ext cx="12532624" cy="5165831"/>
            <a:chOff x="0" y="0"/>
            <a:chExt cx="2784161" cy="1147605"/>
          </a:xfrm>
        </p:grpSpPr>
        <p:sp>
          <p:nvSpPr>
            <p:cNvPr name="Freeform 4" id="4"/>
            <p:cNvSpPr/>
            <p:nvPr/>
          </p:nvSpPr>
          <p:spPr>
            <a:xfrm flipH="false" flipV="false" rot="0">
              <a:off x="0" y="0"/>
              <a:ext cx="2784161" cy="1147605"/>
            </a:xfrm>
            <a:custGeom>
              <a:avLst/>
              <a:gdLst/>
              <a:ahLst/>
              <a:cxnLst/>
              <a:rect r="r" b="b" t="t" l="l"/>
              <a:pathLst>
                <a:path h="1147605" w="2784161">
                  <a:moveTo>
                    <a:pt x="31505" y="0"/>
                  </a:moveTo>
                  <a:lnTo>
                    <a:pt x="2752656" y="0"/>
                  </a:lnTo>
                  <a:cubicBezTo>
                    <a:pt x="2761012" y="0"/>
                    <a:pt x="2769025" y="3319"/>
                    <a:pt x="2774934" y="9228"/>
                  </a:cubicBezTo>
                  <a:cubicBezTo>
                    <a:pt x="2780842" y="15136"/>
                    <a:pt x="2784161" y="23149"/>
                    <a:pt x="2784161" y="31505"/>
                  </a:cubicBezTo>
                  <a:lnTo>
                    <a:pt x="2784161" y="1116101"/>
                  </a:lnTo>
                  <a:cubicBezTo>
                    <a:pt x="2784161" y="1124456"/>
                    <a:pt x="2780842" y="1132470"/>
                    <a:pt x="2774934" y="1138378"/>
                  </a:cubicBezTo>
                  <a:cubicBezTo>
                    <a:pt x="2769025" y="1144286"/>
                    <a:pt x="2761012" y="1147605"/>
                    <a:pt x="2752656" y="1147605"/>
                  </a:cubicBezTo>
                  <a:lnTo>
                    <a:pt x="31505" y="1147605"/>
                  </a:lnTo>
                  <a:cubicBezTo>
                    <a:pt x="23149" y="1147605"/>
                    <a:pt x="15136" y="1144286"/>
                    <a:pt x="9228" y="1138378"/>
                  </a:cubicBezTo>
                  <a:cubicBezTo>
                    <a:pt x="3319" y="1132470"/>
                    <a:pt x="0" y="1124456"/>
                    <a:pt x="0" y="1116101"/>
                  </a:cubicBezTo>
                  <a:lnTo>
                    <a:pt x="0" y="31505"/>
                  </a:lnTo>
                  <a:cubicBezTo>
                    <a:pt x="0" y="23149"/>
                    <a:pt x="3319" y="15136"/>
                    <a:pt x="9228" y="9228"/>
                  </a:cubicBezTo>
                  <a:cubicBezTo>
                    <a:pt x="15136" y="3319"/>
                    <a:pt x="23149" y="0"/>
                    <a:pt x="31505" y="0"/>
                  </a:cubicBezTo>
                  <a:close/>
                </a:path>
              </a:pathLst>
            </a:custGeom>
            <a:solidFill>
              <a:srgbClr val="9CD3CD"/>
            </a:solidFill>
          </p:spPr>
        </p:sp>
        <p:sp>
          <p:nvSpPr>
            <p:cNvPr name="TextBox 5" id="5"/>
            <p:cNvSpPr txBox="true"/>
            <p:nvPr/>
          </p:nvSpPr>
          <p:spPr>
            <a:xfrm>
              <a:off x="0" y="-38100"/>
              <a:ext cx="2784161" cy="118570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455622">
            <a:off x="24438" y="4904831"/>
            <a:ext cx="8160873" cy="6246777"/>
          </a:xfrm>
          <a:custGeom>
            <a:avLst/>
            <a:gdLst/>
            <a:ahLst/>
            <a:cxnLst/>
            <a:rect r="r" b="b" t="t" l="l"/>
            <a:pathLst>
              <a:path h="6246777" w="8160873">
                <a:moveTo>
                  <a:pt x="0" y="0"/>
                </a:moveTo>
                <a:lnTo>
                  <a:pt x="8160873" y="0"/>
                </a:lnTo>
                <a:lnTo>
                  <a:pt x="8160873" y="6246777"/>
                </a:lnTo>
                <a:lnTo>
                  <a:pt x="0" y="62467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286244">
            <a:off x="14092727" y="4135438"/>
            <a:ext cx="4333193" cy="4199258"/>
          </a:xfrm>
          <a:custGeom>
            <a:avLst/>
            <a:gdLst/>
            <a:ahLst/>
            <a:cxnLst/>
            <a:rect r="r" b="b" t="t" l="l"/>
            <a:pathLst>
              <a:path h="4199258" w="4333193">
                <a:moveTo>
                  <a:pt x="0" y="0"/>
                </a:moveTo>
                <a:lnTo>
                  <a:pt x="4333194" y="0"/>
                </a:lnTo>
                <a:lnTo>
                  <a:pt x="4333194" y="4199258"/>
                </a:lnTo>
                <a:lnTo>
                  <a:pt x="0" y="4199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810691" y="419533"/>
            <a:ext cx="3509485" cy="1756919"/>
          </a:xfrm>
          <a:custGeom>
            <a:avLst/>
            <a:gdLst/>
            <a:ahLst/>
            <a:cxnLst/>
            <a:rect r="r" b="b" t="t" l="l"/>
            <a:pathLst>
              <a:path h="1756919" w="3509485">
                <a:moveTo>
                  <a:pt x="0" y="0"/>
                </a:moveTo>
                <a:lnTo>
                  <a:pt x="3509485" y="0"/>
                </a:lnTo>
                <a:lnTo>
                  <a:pt x="3509485" y="1756919"/>
                </a:lnTo>
                <a:lnTo>
                  <a:pt x="0" y="1756919"/>
                </a:lnTo>
                <a:lnTo>
                  <a:pt x="0" y="0"/>
                </a:lnTo>
                <a:close/>
              </a:path>
            </a:pathLst>
          </a:custGeom>
          <a:blipFill>
            <a:blip r:embed="rId7">
              <a:extLst>
                <a:ext uri="{96DAC541-7B7A-43D3-8B79-37D633B846F1}">
                  <asvg:svgBlip xmlns:asvg="http://schemas.microsoft.com/office/drawing/2016/SVG/main" r:embed="rId8"/>
                </a:ext>
              </a:extLst>
            </a:blip>
            <a:stretch>
              <a:fillRect l="-32053" t="0" r="-126199" b="-328636"/>
            </a:stretch>
          </a:blipFill>
        </p:spPr>
      </p:sp>
      <p:sp>
        <p:nvSpPr>
          <p:cNvPr name="Freeform 9" id="9"/>
          <p:cNvSpPr/>
          <p:nvPr/>
        </p:nvSpPr>
        <p:spPr>
          <a:xfrm flipH="false" flipV="false" rot="0">
            <a:off x="7618778" y="8981296"/>
            <a:ext cx="1525222" cy="763557"/>
          </a:xfrm>
          <a:custGeom>
            <a:avLst/>
            <a:gdLst/>
            <a:ahLst/>
            <a:cxnLst/>
            <a:rect r="r" b="b" t="t" l="l"/>
            <a:pathLst>
              <a:path h="763557" w="1525222">
                <a:moveTo>
                  <a:pt x="0" y="0"/>
                </a:moveTo>
                <a:lnTo>
                  <a:pt x="1525222" y="0"/>
                </a:lnTo>
                <a:lnTo>
                  <a:pt x="1525222" y="763556"/>
                </a:lnTo>
                <a:lnTo>
                  <a:pt x="0" y="763556"/>
                </a:lnTo>
                <a:lnTo>
                  <a:pt x="0" y="0"/>
                </a:lnTo>
                <a:close/>
              </a:path>
            </a:pathLst>
          </a:custGeom>
          <a:blipFill>
            <a:blip r:embed="rId7">
              <a:extLst>
                <a:ext uri="{96DAC541-7B7A-43D3-8B79-37D633B846F1}">
                  <asvg:svgBlip xmlns:asvg="http://schemas.microsoft.com/office/drawing/2016/SVG/main" r:embed="rId8"/>
                </a:ext>
              </a:extLst>
            </a:blip>
            <a:stretch>
              <a:fillRect l="-32053" t="0" r="-126199" b="-328636"/>
            </a:stretch>
          </a:blipFill>
        </p:spPr>
      </p:sp>
      <p:sp>
        <p:nvSpPr>
          <p:cNvPr name="Freeform 10" id="10"/>
          <p:cNvSpPr/>
          <p:nvPr/>
        </p:nvSpPr>
        <p:spPr>
          <a:xfrm flipH="false" flipV="false" rot="0">
            <a:off x="14416144" y="-1731509"/>
            <a:ext cx="3403548" cy="3463018"/>
          </a:xfrm>
          <a:custGeom>
            <a:avLst/>
            <a:gdLst/>
            <a:ahLst/>
            <a:cxnLst/>
            <a:rect r="r" b="b" t="t" l="l"/>
            <a:pathLst>
              <a:path h="3463018" w="3403548">
                <a:moveTo>
                  <a:pt x="0" y="0"/>
                </a:moveTo>
                <a:lnTo>
                  <a:pt x="3403548" y="0"/>
                </a:lnTo>
                <a:lnTo>
                  <a:pt x="3403548" y="3463018"/>
                </a:lnTo>
                <a:lnTo>
                  <a:pt x="0" y="3463018"/>
                </a:lnTo>
                <a:lnTo>
                  <a:pt x="0" y="0"/>
                </a:lnTo>
                <a:close/>
              </a:path>
            </a:pathLst>
          </a:custGeom>
          <a:blipFill>
            <a:blip r:embed="rId9">
              <a:extLst>
                <a:ext uri="{96DAC541-7B7A-43D3-8B79-37D633B846F1}">
                  <asvg:svgBlip xmlns:asvg="http://schemas.microsoft.com/office/drawing/2016/SVG/main" r:embed="rId10"/>
                </a:ext>
              </a:extLst>
            </a:blip>
            <a:stretch>
              <a:fillRect l="-367834" t="-44527" r="0" b="-243376"/>
            </a:stretch>
          </a:blipFill>
        </p:spPr>
      </p:sp>
      <p:sp>
        <p:nvSpPr>
          <p:cNvPr name="Freeform 11" id="11"/>
          <p:cNvSpPr/>
          <p:nvPr/>
        </p:nvSpPr>
        <p:spPr>
          <a:xfrm flipH="false" flipV="false" rot="0">
            <a:off x="916983" y="1297992"/>
            <a:ext cx="1123101" cy="1274529"/>
          </a:xfrm>
          <a:custGeom>
            <a:avLst/>
            <a:gdLst/>
            <a:ahLst/>
            <a:cxnLst/>
            <a:rect r="r" b="b" t="t" l="l"/>
            <a:pathLst>
              <a:path h="1274529" w="1123101">
                <a:moveTo>
                  <a:pt x="0" y="0"/>
                </a:moveTo>
                <a:lnTo>
                  <a:pt x="1123100" y="0"/>
                </a:lnTo>
                <a:lnTo>
                  <a:pt x="1123100" y="1274529"/>
                </a:lnTo>
                <a:lnTo>
                  <a:pt x="0" y="1274529"/>
                </a:lnTo>
                <a:lnTo>
                  <a:pt x="0" y="0"/>
                </a:lnTo>
                <a:close/>
              </a:path>
            </a:pathLst>
          </a:custGeom>
          <a:blipFill>
            <a:blip r:embed="rId9">
              <a:extLst>
                <a:ext uri="{96DAC541-7B7A-43D3-8B79-37D633B846F1}">
                  <asvg:svgBlip xmlns:asvg="http://schemas.microsoft.com/office/drawing/2016/SVG/main" r:embed="rId10"/>
                </a:ext>
              </a:extLst>
            </a:blip>
            <a:stretch>
              <a:fillRect l="-446967" t="-46675" r="0" b="-259941"/>
            </a:stretch>
          </a:blipFill>
        </p:spPr>
      </p:sp>
      <p:sp>
        <p:nvSpPr>
          <p:cNvPr name="Freeform 12" id="12"/>
          <p:cNvSpPr/>
          <p:nvPr/>
        </p:nvSpPr>
        <p:spPr>
          <a:xfrm flipH="false" flipV="false" rot="0">
            <a:off x="-1947967" y="3126933"/>
            <a:ext cx="3988051" cy="2610360"/>
          </a:xfrm>
          <a:custGeom>
            <a:avLst/>
            <a:gdLst/>
            <a:ahLst/>
            <a:cxnLst/>
            <a:rect r="r" b="b" t="t" l="l"/>
            <a:pathLst>
              <a:path h="2610360" w="3988051">
                <a:moveTo>
                  <a:pt x="0" y="0"/>
                </a:moveTo>
                <a:lnTo>
                  <a:pt x="3988050" y="0"/>
                </a:lnTo>
                <a:lnTo>
                  <a:pt x="3988050" y="2610360"/>
                </a:lnTo>
                <a:lnTo>
                  <a:pt x="0" y="2610360"/>
                </a:lnTo>
                <a:lnTo>
                  <a:pt x="0" y="0"/>
                </a:lnTo>
                <a:close/>
              </a:path>
            </a:pathLst>
          </a:custGeom>
          <a:blipFill>
            <a:blip r:embed="rId11">
              <a:extLst>
                <a:ext uri="{96DAC541-7B7A-43D3-8B79-37D633B846F1}">
                  <asvg:svgBlip xmlns:asvg="http://schemas.microsoft.com/office/drawing/2016/SVG/main" r:embed="rId12"/>
                </a:ext>
              </a:extLst>
            </a:blip>
            <a:stretch>
              <a:fillRect l="-21944" t="-213709" r="-225552" b="-149620"/>
            </a:stretch>
          </a:blipFill>
        </p:spPr>
      </p:sp>
      <p:sp>
        <p:nvSpPr>
          <p:cNvPr name="Freeform 13" id="13"/>
          <p:cNvSpPr/>
          <p:nvPr/>
        </p:nvSpPr>
        <p:spPr>
          <a:xfrm flipH="false" flipV="false" rot="0">
            <a:off x="16343291" y="2376477"/>
            <a:ext cx="2267732" cy="1484333"/>
          </a:xfrm>
          <a:custGeom>
            <a:avLst/>
            <a:gdLst/>
            <a:ahLst/>
            <a:cxnLst/>
            <a:rect r="r" b="b" t="t" l="l"/>
            <a:pathLst>
              <a:path h="1484333" w="2267732">
                <a:moveTo>
                  <a:pt x="0" y="0"/>
                </a:moveTo>
                <a:lnTo>
                  <a:pt x="2267731" y="0"/>
                </a:lnTo>
                <a:lnTo>
                  <a:pt x="2267731" y="1484333"/>
                </a:lnTo>
                <a:lnTo>
                  <a:pt x="0" y="1484333"/>
                </a:lnTo>
                <a:lnTo>
                  <a:pt x="0" y="0"/>
                </a:lnTo>
                <a:close/>
              </a:path>
            </a:pathLst>
          </a:custGeom>
          <a:blipFill>
            <a:blip r:embed="rId11">
              <a:extLst>
                <a:ext uri="{96DAC541-7B7A-43D3-8B79-37D633B846F1}">
                  <asvg:svgBlip xmlns:asvg="http://schemas.microsoft.com/office/drawing/2016/SVG/main" r:embed="rId12"/>
                </a:ext>
              </a:extLst>
            </a:blip>
            <a:stretch>
              <a:fillRect l="-21944" t="-213709" r="-225552" b="-149620"/>
            </a:stretch>
          </a:blipFill>
        </p:spPr>
      </p:sp>
      <p:sp>
        <p:nvSpPr>
          <p:cNvPr name="Freeform 14" id="14"/>
          <p:cNvSpPr/>
          <p:nvPr/>
        </p:nvSpPr>
        <p:spPr>
          <a:xfrm flipH="false" flipV="false" rot="-10800000">
            <a:off x="8381389" y="186456"/>
            <a:ext cx="1705258" cy="1276645"/>
          </a:xfrm>
          <a:custGeom>
            <a:avLst/>
            <a:gdLst/>
            <a:ahLst/>
            <a:cxnLst/>
            <a:rect r="r" b="b" t="t" l="l"/>
            <a:pathLst>
              <a:path h="1276645" w="1705258">
                <a:moveTo>
                  <a:pt x="0" y="0"/>
                </a:moveTo>
                <a:lnTo>
                  <a:pt x="1705258" y="0"/>
                </a:lnTo>
                <a:lnTo>
                  <a:pt x="1705258" y="1276645"/>
                </a:lnTo>
                <a:lnTo>
                  <a:pt x="0" y="1276645"/>
                </a:lnTo>
                <a:lnTo>
                  <a:pt x="0" y="0"/>
                </a:lnTo>
                <a:close/>
              </a:path>
            </a:pathLst>
          </a:custGeom>
          <a:blipFill>
            <a:blip r:embed="rId13">
              <a:extLst>
                <a:ext uri="{96DAC541-7B7A-43D3-8B79-37D633B846F1}">
                  <asvg:svgBlip xmlns:asvg="http://schemas.microsoft.com/office/drawing/2016/SVG/main" r:embed="rId14"/>
                </a:ext>
              </a:extLst>
            </a:blip>
            <a:stretch>
              <a:fillRect l="-185397" t="0" r="0" b="-187643"/>
            </a:stretch>
          </a:blipFill>
        </p:spPr>
      </p:sp>
      <p:sp>
        <p:nvSpPr>
          <p:cNvPr name="Freeform 15" id="15"/>
          <p:cNvSpPr/>
          <p:nvPr/>
        </p:nvSpPr>
        <p:spPr>
          <a:xfrm flipH="false" flipV="false" rot="0">
            <a:off x="15427281" y="8028219"/>
            <a:ext cx="1832019" cy="1647908"/>
          </a:xfrm>
          <a:custGeom>
            <a:avLst/>
            <a:gdLst/>
            <a:ahLst/>
            <a:cxnLst/>
            <a:rect r="r" b="b" t="t" l="l"/>
            <a:pathLst>
              <a:path h="1647908" w="1832019">
                <a:moveTo>
                  <a:pt x="0" y="0"/>
                </a:moveTo>
                <a:lnTo>
                  <a:pt x="1832019" y="0"/>
                </a:lnTo>
                <a:lnTo>
                  <a:pt x="1832019" y="1647908"/>
                </a:lnTo>
                <a:lnTo>
                  <a:pt x="0" y="1647908"/>
                </a:lnTo>
                <a:lnTo>
                  <a:pt x="0" y="0"/>
                </a:lnTo>
                <a:close/>
              </a:path>
            </a:pathLst>
          </a:custGeom>
          <a:blipFill>
            <a:blip r:embed="rId15">
              <a:extLst>
                <a:ext uri="{96DAC541-7B7A-43D3-8B79-37D633B846F1}">
                  <asvg:svgBlip xmlns:asvg="http://schemas.microsoft.com/office/drawing/2016/SVG/main" r:embed="rId16"/>
                </a:ext>
              </a:extLst>
            </a:blip>
            <a:stretch>
              <a:fillRect l="-25219" t="-283539" r="-600026" b="-126611"/>
            </a:stretch>
          </a:blipFill>
        </p:spPr>
      </p:sp>
      <p:sp>
        <p:nvSpPr>
          <p:cNvPr name="Freeform 16" id="16"/>
          <p:cNvSpPr/>
          <p:nvPr/>
        </p:nvSpPr>
        <p:spPr>
          <a:xfrm flipH="false" flipV="false" rot="0">
            <a:off x="7091701" y="2119207"/>
            <a:ext cx="3885549" cy="906628"/>
          </a:xfrm>
          <a:custGeom>
            <a:avLst/>
            <a:gdLst/>
            <a:ahLst/>
            <a:cxnLst/>
            <a:rect r="r" b="b" t="t" l="l"/>
            <a:pathLst>
              <a:path h="906628" w="3885549">
                <a:moveTo>
                  <a:pt x="0" y="0"/>
                </a:moveTo>
                <a:lnTo>
                  <a:pt x="3885549" y="0"/>
                </a:lnTo>
                <a:lnTo>
                  <a:pt x="3885549" y="906628"/>
                </a:lnTo>
                <a:lnTo>
                  <a:pt x="0" y="906628"/>
                </a:lnTo>
                <a:lnTo>
                  <a:pt x="0" y="0"/>
                </a:lnTo>
                <a:close/>
              </a:path>
            </a:pathLst>
          </a:custGeom>
          <a:blipFill>
            <a:blip r:embed="rId17">
              <a:extLst>
                <a:ext uri="{96DAC541-7B7A-43D3-8B79-37D633B846F1}">
                  <asvg:svgBlip xmlns:asvg="http://schemas.microsoft.com/office/drawing/2016/SVG/main" r:embed="rId18"/>
                </a:ext>
              </a:extLst>
            </a:blip>
            <a:stretch>
              <a:fillRect l="-240742" t="-90474" r="-96909" b="-2138211"/>
            </a:stretch>
          </a:blipFill>
        </p:spPr>
      </p:sp>
      <p:sp>
        <p:nvSpPr>
          <p:cNvPr name="Freeform 17" id="17"/>
          <p:cNvSpPr/>
          <p:nvPr/>
        </p:nvSpPr>
        <p:spPr>
          <a:xfrm flipH="false" flipV="false" rot="-432448">
            <a:off x="10454718" y="7906763"/>
            <a:ext cx="3616123" cy="2912623"/>
          </a:xfrm>
          <a:custGeom>
            <a:avLst/>
            <a:gdLst/>
            <a:ahLst/>
            <a:cxnLst/>
            <a:rect r="r" b="b" t="t" l="l"/>
            <a:pathLst>
              <a:path h="2912623" w="3616123">
                <a:moveTo>
                  <a:pt x="0" y="0"/>
                </a:moveTo>
                <a:lnTo>
                  <a:pt x="3616123" y="0"/>
                </a:lnTo>
                <a:lnTo>
                  <a:pt x="3616123" y="2912622"/>
                </a:lnTo>
                <a:lnTo>
                  <a:pt x="0" y="29126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8" id="18"/>
          <p:cNvSpPr txBox="true"/>
          <p:nvPr/>
        </p:nvSpPr>
        <p:spPr>
          <a:xfrm rot="0">
            <a:off x="4402085" y="3165038"/>
            <a:ext cx="9483830" cy="2281078"/>
          </a:xfrm>
          <a:prstGeom prst="rect">
            <a:avLst/>
          </a:prstGeom>
        </p:spPr>
        <p:txBody>
          <a:bodyPr anchor="t" rtlCol="false" tIns="0" lIns="0" bIns="0" rIns="0">
            <a:spAutoFit/>
          </a:bodyPr>
          <a:lstStyle/>
          <a:p>
            <a:pPr algn="ctr">
              <a:lnSpc>
                <a:spcPts val="8649"/>
              </a:lnSpc>
            </a:pPr>
            <a:r>
              <a:rPr lang="en-US" sz="9300">
                <a:solidFill>
                  <a:srgbClr val="FFFFFF"/>
                </a:solidFill>
                <a:latin typeface="Gulfs Display"/>
                <a:ea typeface="Gulfs Display"/>
                <a:cs typeface="Gulfs Display"/>
                <a:sym typeface="Gulfs Display"/>
              </a:rPr>
              <a:t>CAPSTONE PROJECT</a:t>
            </a:r>
          </a:p>
        </p:txBody>
      </p:sp>
      <p:grpSp>
        <p:nvGrpSpPr>
          <p:cNvPr name="Group 19" id="19"/>
          <p:cNvGrpSpPr/>
          <p:nvPr/>
        </p:nvGrpSpPr>
        <p:grpSpPr>
          <a:xfrm rot="0">
            <a:off x="12682683" y="901716"/>
            <a:ext cx="792553" cy="79255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4237428" y="6373057"/>
            <a:ext cx="9993180" cy="646430"/>
          </a:xfrm>
          <a:prstGeom prst="rect">
            <a:avLst/>
          </a:prstGeom>
        </p:spPr>
        <p:txBody>
          <a:bodyPr anchor="t" rtlCol="false" tIns="0" lIns="0" bIns="0" rIns="0">
            <a:spAutoFit/>
          </a:bodyPr>
          <a:lstStyle/>
          <a:p>
            <a:pPr algn="ctr">
              <a:lnSpc>
                <a:spcPts val="5320"/>
              </a:lnSpc>
              <a:spcBef>
                <a:spcPct val="0"/>
              </a:spcBef>
            </a:pPr>
            <a:r>
              <a:rPr lang="en-US" sz="3800">
                <a:solidFill>
                  <a:srgbClr val="FFFFFF"/>
                </a:solidFill>
                <a:latin typeface="DM Sans"/>
                <a:ea typeface="DM Sans"/>
                <a:cs typeface="DM Sans"/>
                <a:sym typeface="DM Sans"/>
              </a:rPr>
              <a:t>Presentation by Charushree Anil</a:t>
            </a:r>
          </a:p>
        </p:txBody>
      </p:sp>
      <p:sp>
        <p:nvSpPr>
          <p:cNvPr name="TextBox 23" id="23"/>
          <p:cNvSpPr txBox="true"/>
          <p:nvPr/>
        </p:nvSpPr>
        <p:spPr>
          <a:xfrm rot="0">
            <a:off x="5237422" y="5347972"/>
            <a:ext cx="7813157" cy="887134"/>
          </a:xfrm>
          <a:prstGeom prst="rect">
            <a:avLst/>
          </a:prstGeom>
        </p:spPr>
        <p:txBody>
          <a:bodyPr anchor="t" rtlCol="false" tIns="0" lIns="0" bIns="0" rIns="0">
            <a:spAutoFit/>
          </a:bodyPr>
          <a:lstStyle/>
          <a:p>
            <a:pPr algn="ctr">
              <a:lnSpc>
                <a:spcPts val="7279"/>
              </a:lnSpc>
            </a:pPr>
            <a:r>
              <a:rPr lang="en-US" sz="5199" b="true">
                <a:solidFill>
                  <a:srgbClr val="F9E6B9"/>
                </a:solidFill>
                <a:latin typeface="Canva Sans Bold"/>
                <a:ea typeface="Canva Sans Bold"/>
                <a:cs typeface="Canva Sans Bold"/>
                <a:sym typeface="Canva Sans Bold"/>
              </a:rPr>
              <a:t>Third one - one meeting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934950" y="5909622"/>
            <a:ext cx="24215302" cy="13484184"/>
            <a:chOff x="0" y="0"/>
            <a:chExt cx="1459651" cy="812800"/>
          </a:xfrm>
        </p:grpSpPr>
        <p:sp>
          <p:nvSpPr>
            <p:cNvPr name="Freeform 4" id="4"/>
            <p:cNvSpPr/>
            <p:nvPr/>
          </p:nvSpPr>
          <p:spPr>
            <a:xfrm flipH="false" flipV="false" rot="0">
              <a:off x="0" y="0"/>
              <a:ext cx="1459651" cy="812800"/>
            </a:xfrm>
            <a:custGeom>
              <a:avLst/>
              <a:gdLst/>
              <a:ahLst/>
              <a:cxnLst/>
              <a:rect r="r" b="b" t="t" l="l"/>
              <a:pathLst>
                <a:path h="812800" w="1459651">
                  <a:moveTo>
                    <a:pt x="729825" y="0"/>
                  </a:moveTo>
                  <a:cubicBezTo>
                    <a:pt x="326754" y="0"/>
                    <a:pt x="0" y="181951"/>
                    <a:pt x="0" y="406400"/>
                  </a:cubicBezTo>
                  <a:cubicBezTo>
                    <a:pt x="0" y="630849"/>
                    <a:pt x="326754" y="812800"/>
                    <a:pt x="729825" y="812800"/>
                  </a:cubicBezTo>
                  <a:cubicBezTo>
                    <a:pt x="1132897" y="812800"/>
                    <a:pt x="1459651" y="630849"/>
                    <a:pt x="1459651" y="406400"/>
                  </a:cubicBezTo>
                  <a:cubicBezTo>
                    <a:pt x="1459651" y="181951"/>
                    <a:pt x="1132897" y="0"/>
                    <a:pt x="729825" y="0"/>
                  </a:cubicBezTo>
                  <a:close/>
                </a:path>
              </a:pathLst>
            </a:custGeom>
            <a:solidFill>
              <a:srgbClr val="9CD3CD"/>
            </a:solidFill>
          </p:spPr>
        </p:sp>
        <p:sp>
          <p:nvSpPr>
            <p:cNvPr name="TextBox 5" id="5"/>
            <p:cNvSpPr txBox="true"/>
            <p:nvPr/>
          </p:nvSpPr>
          <p:spPr>
            <a:xfrm>
              <a:off x="136842" y="38100"/>
              <a:ext cx="1185966"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97443">
            <a:off x="1438510" y="3367687"/>
            <a:ext cx="4590924" cy="5240391"/>
            <a:chOff x="0" y="0"/>
            <a:chExt cx="1209132" cy="1380185"/>
          </a:xfrm>
        </p:grpSpPr>
        <p:sp>
          <p:nvSpPr>
            <p:cNvPr name="Freeform 7" id="7"/>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8" id="8"/>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373813">
            <a:off x="6848538" y="3205784"/>
            <a:ext cx="4590924" cy="5240391"/>
            <a:chOff x="0" y="0"/>
            <a:chExt cx="1209132" cy="1380185"/>
          </a:xfrm>
        </p:grpSpPr>
        <p:sp>
          <p:nvSpPr>
            <p:cNvPr name="Freeform 10" id="10"/>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11" id="11"/>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479400">
            <a:off x="12524337" y="3265782"/>
            <a:ext cx="4590924" cy="5240391"/>
            <a:chOff x="0" y="0"/>
            <a:chExt cx="1209132" cy="1380185"/>
          </a:xfrm>
        </p:grpSpPr>
        <p:sp>
          <p:nvSpPr>
            <p:cNvPr name="Freeform 13" id="13"/>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14" id="14"/>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97443">
            <a:off x="2521867" y="4159810"/>
            <a:ext cx="2530316" cy="253031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grpSp>
        <p:nvGrpSpPr>
          <p:cNvPr name="Group 17" id="17"/>
          <p:cNvGrpSpPr/>
          <p:nvPr/>
        </p:nvGrpSpPr>
        <p:grpSpPr>
          <a:xfrm rot="-373813">
            <a:off x="7697387" y="4722724"/>
            <a:ext cx="2530316" cy="253031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grpSp>
        <p:nvGrpSpPr>
          <p:cNvPr name="Group 19" id="19"/>
          <p:cNvGrpSpPr/>
          <p:nvPr/>
        </p:nvGrpSpPr>
        <p:grpSpPr>
          <a:xfrm rot="479400">
            <a:off x="13554640" y="3965922"/>
            <a:ext cx="2530316" cy="25303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grpSp>
        <p:nvGrpSpPr>
          <p:cNvPr name="Group 21" id="21"/>
          <p:cNvGrpSpPr/>
          <p:nvPr/>
        </p:nvGrpSpPr>
        <p:grpSpPr>
          <a:xfrm rot="0">
            <a:off x="3291833" y="1028700"/>
            <a:ext cx="11474134" cy="1993202"/>
            <a:chOff x="0" y="0"/>
            <a:chExt cx="3021994" cy="524959"/>
          </a:xfrm>
        </p:grpSpPr>
        <p:sp>
          <p:nvSpPr>
            <p:cNvPr name="Freeform 22" id="22"/>
            <p:cNvSpPr/>
            <p:nvPr/>
          </p:nvSpPr>
          <p:spPr>
            <a:xfrm flipH="false" flipV="false" rot="0">
              <a:off x="0" y="0"/>
              <a:ext cx="3021994" cy="524959"/>
            </a:xfrm>
            <a:custGeom>
              <a:avLst/>
              <a:gdLst/>
              <a:ahLst/>
              <a:cxnLst/>
              <a:rect r="r" b="b" t="t" l="l"/>
              <a:pathLst>
                <a:path h="524959" w="3021994">
                  <a:moveTo>
                    <a:pt x="2818794" y="0"/>
                  </a:moveTo>
                  <a:cubicBezTo>
                    <a:pt x="2931018" y="0"/>
                    <a:pt x="3021994" y="117516"/>
                    <a:pt x="3021994" y="262479"/>
                  </a:cubicBezTo>
                  <a:cubicBezTo>
                    <a:pt x="3021994" y="407443"/>
                    <a:pt x="2931018" y="524959"/>
                    <a:pt x="2818794" y="524959"/>
                  </a:cubicBezTo>
                  <a:lnTo>
                    <a:pt x="203200" y="524959"/>
                  </a:lnTo>
                  <a:cubicBezTo>
                    <a:pt x="90976" y="524959"/>
                    <a:pt x="0" y="407443"/>
                    <a:pt x="0" y="262479"/>
                  </a:cubicBezTo>
                  <a:cubicBezTo>
                    <a:pt x="0" y="117516"/>
                    <a:pt x="90976" y="0"/>
                    <a:pt x="203200" y="0"/>
                  </a:cubicBezTo>
                  <a:close/>
                </a:path>
              </a:pathLst>
            </a:custGeom>
            <a:solidFill>
              <a:srgbClr val="F2C275"/>
            </a:solidFill>
          </p:spPr>
        </p:sp>
        <p:sp>
          <p:nvSpPr>
            <p:cNvPr name="TextBox 23" id="23"/>
            <p:cNvSpPr txBox="true"/>
            <p:nvPr/>
          </p:nvSpPr>
          <p:spPr>
            <a:xfrm>
              <a:off x="0" y="-95250"/>
              <a:ext cx="3021994" cy="620209"/>
            </a:xfrm>
            <a:prstGeom prst="rect">
              <a:avLst/>
            </a:prstGeom>
          </p:spPr>
          <p:txBody>
            <a:bodyPr anchor="ctr" rtlCol="false" tIns="38100" lIns="38100" bIns="38100" rIns="38100"/>
            <a:lstStyle/>
            <a:p>
              <a:pPr algn="ctr">
                <a:lnSpc>
                  <a:spcPts val="7140"/>
                </a:lnSpc>
              </a:pPr>
              <a:r>
                <a:rPr lang="en-US" sz="5100" spc="127">
                  <a:solidFill>
                    <a:srgbClr val="FFFFFF"/>
                  </a:solidFill>
                  <a:latin typeface="Gulfs Display"/>
                  <a:ea typeface="Gulfs Display"/>
                  <a:cs typeface="Gulfs Display"/>
                  <a:sym typeface="Gulfs Display"/>
                </a:rPr>
                <a:t>IMPACT OF LIFESTYLE HABITS ON ANXIETY ATTACK SEVERITY</a:t>
              </a:r>
            </a:p>
          </p:txBody>
        </p:sp>
      </p:grpSp>
      <p:grpSp>
        <p:nvGrpSpPr>
          <p:cNvPr name="Group 24" id="24"/>
          <p:cNvGrpSpPr/>
          <p:nvPr/>
        </p:nvGrpSpPr>
        <p:grpSpPr>
          <a:xfrm rot="197443">
            <a:off x="1202823" y="7865165"/>
            <a:ext cx="792553" cy="7925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26" id="2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479400">
            <a:off x="16509936" y="3111697"/>
            <a:ext cx="792553" cy="7925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29" id="2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10800000">
            <a:off x="10190274" y="8735523"/>
            <a:ext cx="1992138" cy="997304"/>
          </a:xfrm>
          <a:custGeom>
            <a:avLst/>
            <a:gdLst/>
            <a:ahLst/>
            <a:cxnLst/>
            <a:rect r="r" b="b" t="t" l="l"/>
            <a:pathLst>
              <a:path h="997304" w="1992138">
                <a:moveTo>
                  <a:pt x="0" y="0"/>
                </a:moveTo>
                <a:lnTo>
                  <a:pt x="1992138" y="0"/>
                </a:lnTo>
                <a:lnTo>
                  <a:pt x="1992138" y="997305"/>
                </a:lnTo>
                <a:lnTo>
                  <a:pt x="0" y="997305"/>
                </a:lnTo>
                <a:lnTo>
                  <a:pt x="0" y="0"/>
                </a:lnTo>
                <a:close/>
              </a:path>
            </a:pathLst>
          </a:custGeom>
          <a:blipFill>
            <a:blip r:embed="rId6">
              <a:extLst>
                <a:ext uri="{96DAC541-7B7A-43D3-8B79-37D633B846F1}">
                  <asvg:svgBlip xmlns:asvg="http://schemas.microsoft.com/office/drawing/2016/SVG/main" r:embed="rId7"/>
                </a:ext>
              </a:extLst>
            </a:blip>
            <a:stretch>
              <a:fillRect l="-32053" t="0" r="-126199" b="-328636"/>
            </a:stretch>
          </a:blipFill>
        </p:spPr>
      </p:sp>
      <p:sp>
        <p:nvSpPr>
          <p:cNvPr name="Freeform 31" id="31"/>
          <p:cNvSpPr/>
          <p:nvPr/>
        </p:nvSpPr>
        <p:spPr>
          <a:xfrm flipH="false" flipV="false" rot="-10800000">
            <a:off x="3999620" y="8458299"/>
            <a:ext cx="1123101" cy="1274529"/>
          </a:xfrm>
          <a:custGeom>
            <a:avLst/>
            <a:gdLst/>
            <a:ahLst/>
            <a:cxnLst/>
            <a:rect r="r" b="b" t="t" l="l"/>
            <a:pathLst>
              <a:path h="1274529" w="1123101">
                <a:moveTo>
                  <a:pt x="0" y="0"/>
                </a:moveTo>
                <a:lnTo>
                  <a:pt x="1123101" y="0"/>
                </a:lnTo>
                <a:lnTo>
                  <a:pt x="1123101" y="1274529"/>
                </a:lnTo>
                <a:lnTo>
                  <a:pt x="0" y="1274529"/>
                </a:lnTo>
                <a:lnTo>
                  <a:pt x="0" y="0"/>
                </a:lnTo>
                <a:close/>
              </a:path>
            </a:pathLst>
          </a:custGeom>
          <a:blipFill>
            <a:blip r:embed="rId8">
              <a:extLst>
                <a:ext uri="{96DAC541-7B7A-43D3-8B79-37D633B846F1}">
                  <asvg:svgBlip xmlns:asvg="http://schemas.microsoft.com/office/drawing/2016/SVG/main" r:embed="rId9"/>
                </a:ext>
              </a:extLst>
            </a:blip>
            <a:stretch>
              <a:fillRect l="-446967" t="-46675" r="0" b="-259941"/>
            </a:stretch>
          </a:blipFill>
        </p:spPr>
      </p:sp>
      <p:sp>
        <p:nvSpPr>
          <p:cNvPr name="Freeform 32" id="32"/>
          <p:cNvSpPr/>
          <p:nvPr/>
        </p:nvSpPr>
        <p:spPr>
          <a:xfrm flipH="false" flipV="false" rot="-10800000">
            <a:off x="15750137" y="7963274"/>
            <a:ext cx="1513503" cy="1133088"/>
          </a:xfrm>
          <a:custGeom>
            <a:avLst/>
            <a:gdLst/>
            <a:ahLst/>
            <a:cxnLst/>
            <a:rect r="r" b="b" t="t" l="l"/>
            <a:pathLst>
              <a:path h="1133088" w="1513503">
                <a:moveTo>
                  <a:pt x="0" y="0"/>
                </a:moveTo>
                <a:lnTo>
                  <a:pt x="1513503" y="0"/>
                </a:lnTo>
                <a:lnTo>
                  <a:pt x="1513503" y="1133087"/>
                </a:lnTo>
                <a:lnTo>
                  <a:pt x="0" y="1133087"/>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
        <p:nvSpPr>
          <p:cNvPr name="Freeform 33" id="33"/>
          <p:cNvSpPr/>
          <p:nvPr/>
        </p:nvSpPr>
        <p:spPr>
          <a:xfrm flipH="false" flipV="false" rot="0">
            <a:off x="1028700" y="196063"/>
            <a:ext cx="1715975" cy="832637"/>
          </a:xfrm>
          <a:custGeom>
            <a:avLst/>
            <a:gdLst/>
            <a:ahLst/>
            <a:cxnLst/>
            <a:rect r="r" b="b" t="t" l="l"/>
            <a:pathLst>
              <a:path h="832637" w="1715975">
                <a:moveTo>
                  <a:pt x="0" y="0"/>
                </a:moveTo>
                <a:lnTo>
                  <a:pt x="1715975" y="0"/>
                </a:lnTo>
                <a:lnTo>
                  <a:pt x="1715975" y="832637"/>
                </a:lnTo>
                <a:lnTo>
                  <a:pt x="0" y="832637"/>
                </a:lnTo>
                <a:lnTo>
                  <a:pt x="0" y="0"/>
                </a:lnTo>
                <a:close/>
              </a:path>
            </a:pathLst>
          </a:custGeom>
          <a:blipFill>
            <a:blip r:embed="rId8">
              <a:extLst>
                <a:ext uri="{96DAC541-7B7A-43D3-8B79-37D633B846F1}">
                  <asvg:svgBlip xmlns:asvg="http://schemas.microsoft.com/office/drawing/2016/SVG/main" r:embed="rId9"/>
                </a:ext>
              </a:extLst>
            </a:blip>
            <a:stretch>
              <a:fillRect l="0" t="0" r="-278167" b="-557498"/>
            </a:stretch>
          </a:blipFill>
        </p:spPr>
      </p:sp>
      <p:sp>
        <p:nvSpPr>
          <p:cNvPr name="Freeform 34" id="34"/>
          <p:cNvSpPr/>
          <p:nvPr/>
        </p:nvSpPr>
        <p:spPr>
          <a:xfrm flipH="false" flipV="false" rot="0">
            <a:off x="458300" y="1136343"/>
            <a:ext cx="1140800" cy="541880"/>
          </a:xfrm>
          <a:custGeom>
            <a:avLst/>
            <a:gdLst/>
            <a:ahLst/>
            <a:cxnLst/>
            <a:rect r="r" b="b" t="t" l="l"/>
            <a:pathLst>
              <a:path h="541880" w="1140800">
                <a:moveTo>
                  <a:pt x="0" y="0"/>
                </a:moveTo>
                <a:lnTo>
                  <a:pt x="1140800" y="0"/>
                </a:lnTo>
                <a:lnTo>
                  <a:pt x="1140800" y="541880"/>
                </a:lnTo>
                <a:lnTo>
                  <a:pt x="0" y="541880"/>
                </a:lnTo>
                <a:lnTo>
                  <a:pt x="0" y="0"/>
                </a:lnTo>
                <a:close/>
              </a:path>
            </a:pathLst>
          </a:custGeom>
          <a:blipFill>
            <a:blip r:embed="rId8">
              <a:extLst>
                <a:ext uri="{96DAC541-7B7A-43D3-8B79-37D633B846F1}">
                  <asvg:svgBlip xmlns:asvg="http://schemas.microsoft.com/office/drawing/2016/SVG/main" r:embed="rId9"/>
                </a:ext>
              </a:extLst>
            </a:blip>
            <a:stretch>
              <a:fillRect l="-50418" t="-145039" r="-418415" b="-765254"/>
            </a:stretch>
          </a:blipFill>
        </p:spPr>
      </p:sp>
      <p:sp>
        <p:nvSpPr>
          <p:cNvPr name="Freeform 35" id="35"/>
          <p:cNvSpPr/>
          <p:nvPr/>
        </p:nvSpPr>
        <p:spPr>
          <a:xfrm flipH="false" flipV="false" rot="5400000">
            <a:off x="16140156" y="1043455"/>
            <a:ext cx="1994592" cy="837964"/>
          </a:xfrm>
          <a:custGeom>
            <a:avLst/>
            <a:gdLst/>
            <a:ahLst/>
            <a:cxnLst/>
            <a:rect r="r" b="b" t="t" l="l"/>
            <a:pathLst>
              <a:path h="837964" w="1994592">
                <a:moveTo>
                  <a:pt x="0" y="0"/>
                </a:moveTo>
                <a:lnTo>
                  <a:pt x="1994591" y="0"/>
                </a:lnTo>
                <a:lnTo>
                  <a:pt x="1994591" y="837964"/>
                </a:lnTo>
                <a:lnTo>
                  <a:pt x="0" y="837964"/>
                </a:lnTo>
                <a:lnTo>
                  <a:pt x="0" y="0"/>
                </a:lnTo>
                <a:close/>
              </a:path>
            </a:pathLst>
          </a:custGeom>
          <a:blipFill>
            <a:blip r:embed="rId12">
              <a:extLst>
                <a:ext uri="{96DAC541-7B7A-43D3-8B79-37D633B846F1}">
                  <asvg:svgBlip xmlns:asvg="http://schemas.microsoft.com/office/drawing/2016/SVG/main" r:embed="rId13"/>
                </a:ext>
              </a:extLst>
            </a:blip>
            <a:stretch>
              <a:fillRect l="-35726" t="0" r="-148821" b="-480018"/>
            </a:stretch>
          </a:blipFill>
        </p:spPr>
      </p:sp>
      <p:sp>
        <p:nvSpPr>
          <p:cNvPr name="Freeform 36" id="36"/>
          <p:cNvSpPr/>
          <p:nvPr/>
        </p:nvSpPr>
        <p:spPr>
          <a:xfrm flipH="false" flipV="false" rot="-5400000">
            <a:off x="7222539" y="-547629"/>
            <a:ext cx="1705258" cy="1276645"/>
          </a:xfrm>
          <a:custGeom>
            <a:avLst/>
            <a:gdLst/>
            <a:ahLst/>
            <a:cxnLst/>
            <a:rect r="r" b="b" t="t" l="l"/>
            <a:pathLst>
              <a:path h="1276645" w="1705258">
                <a:moveTo>
                  <a:pt x="0" y="0"/>
                </a:moveTo>
                <a:lnTo>
                  <a:pt x="1705258" y="0"/>
                </a:lnTo>
                <a:lnTo>
                  <a:pt x="1705258" y="1276645"/>
                </a:lnTo>
                <a:lnTo>
                  <a:pt x="0" y="1276645"/>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901694" y="3404838"/>
            <a:ext cx="7357606" cy="5375401"/>
            <a:chOff x="0" y="0"/>
            <a:chExt cx="1937806" cy="1415743"/>
          </a:xfrm>
        </p:grpSpPr>
        <p:sp>
          <p:nvSpPr>
            <p:cNvPr name="Freeform 4" id="4"/>
            <p:cNvSpPr/>
            <p:nvPr/>
          </p:nvSpPr>
          <p:spPr>
            <a:xfrm flipH="false" flipV="false" rot="0">
              <a:off x="0" y="0"/>
              <a:ext cx="1937806" cy="1415743"/>
            </a:xfrm>
            <a:custGeom>
              <a:avLst/>
              <a:gdLst/>
              <a:ahLst/>
              <a:cxnLst/>
              <a:rect r="r" b="b" t="t" l="l"/>
              <a:pathLst>
                <a:path h="1415743" w="1937806">
                  <a:moveTo>
                    <a:pt x="53664" y="0"/>
                  </a:moveTo>
                  <a:lnTo>
                    <a:pt x="1884142" y="0"/>
                  </a:lnTo>
                  <a:cubicBezTo>
                    <a:pt x="1913780" y="0"/>
                    <a:pt x="1937806" y="24026"/>
                    <a:pt x="1937806" y="53664"/>
                  </a:cubicBezTo>
                  <a:lnTo>
                    <a:pt x="1937806" y="1362080"/>
                  </a:lnTo>
                  <a:cubicBezTo>
                    <a:pt x="1937806" y="1376312"/>
                    <a:pt x="1932152" y="1389962"/>
                    <a:pt x="1922088" y="1400026"/>
                  </a:cubicBezTo>
                  <a:cubicBezTo>
                    <a:pt x="1912024" y="1410090"/>
                    <a:pt x="1898374" y="1415743"/>
                    <a:pt x="1884142" y="1415743"/>
                  </a:cubicBezTo>
                  <a:lnTo>
                    <a:pt x="53664" y="1415743"/>
                  </a:lnTo>
                  <a:cubicBezTo>
                    <a:pt x="24026" y="1415743"/>
                    <a:pt x="0" y="1391717"/>
                    <a:pt x="0" y="1362080"/>
                  </a:cubicBezTo>
                  <a:lnTo>
                    <a:pt x="0" y="53664"/>
                  </a:lnTo>
                  <a:cubicBezTo>
                    <a:pt x="0" y="24026"/>
                    <a:pt x="24026" y="0"/>
                    <a:pt x="53664" y="0"/>
                  </a:cubicBezTo>
                  <a:close/>
                </a:path>
              </a:pathLst>
            </a:custGeom>
            <a:solidFill>
              <a:srgbClr val="FFFFFF"/>
            </a:solidFill>
          </p:spPr>
        </p:sp>
        <p:sp>
          <p:nvSpPr>
            <p:cNvPr name="TextBox 5" id="5"/>
            <p:cNvSpPr txBox="true"/>
            <p:nvPr/>
          </p:nvSpPr>
          <p:spPr>
            <a:xfrm>
              <a:off x="0" y="-38100"/>
              <a:ext cx="1937806" cy="145384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3394" y="1028700"/>
            <a:ext cx="9258300" cy="92583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FFFAEF"/>
            </a:solidFill>
          </p:spPr>
        </p:sp>
        <p:sp>
          <p:nvSpPr>
            <p:cNvPr name="TextBox 8" id="8"/>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218381" y="1990771"/>
            <a:ext cx="8724233" cy="963930"/>
          </a:xfrm>
          <a:prstGeom prst="rect">
            <a:avLst/>
          </a:prstGeom>
        </p:spPr>
        <p:txBody>
          <a:bodyPr anchor="t" rtlCol="false" tIns="0" lIns="0" bIns="0" rIns="0">
            <a:spAutoFit/>
          </a:bodyPr>
          <a:lstStyle/>
          <a:p>
            <a:pPr algn="ctr">
              <a:lnSpc>
                <a:spcPts val="7200"/>
              </a:lnSpc>
            </a:pPr>
            <a:r>
              <a:rPr lang="en-US" sz="7200" spc="179">
                <a:solidFill>
                  <a:srgbClr val="000000"/>
                </a:solidFill>
                <a:latin typeface="Gulfs Display"/>
                <a:ea typeface="Gulfs Display"/>
                <a:cs typeface="Gulfs Display"/>
                <a:sym typeface="Gulfs Display"/>
              </a:rPr>
              <a:t>BACKGROUND</a:t>
            </a:r>
          </a:p>
        </p:txBody>
      </p:sp>
      <p:sp>
        <p:nvSpPr>
          <p:cNvPr name="Freeform 10" id="10"/>
          <p:cNvSpPr/>
          <p:nvPr/>
        </p:nvSpPr>
        <p:spPr>
          <a:xfrm flipH="false" flipV="false" rot="0">
            <a:off x="15543325" y="574647"/>
            <a:ext cx="1715975" cy="832637"/>
          </a:xfrm>
          <a:custGeom>
            <a:avLst/>
            <a:gdLst/>
            <a:ahLst/>
            <a:cxnLst/>
            <a:rect r="r" b="b" t="t" l="l"/>
            <a:pathLst>
              <a:path h="832637" w="1715975">
                <a:moveTo>
                  <a:pt x="0" y="0"/>
                </a:moveTo>
                <a:lnTo>
                  <a:pt x="1715975" y="0"/>
                </a:lnTo>
                <a:lnTo>
                  <a:pt x="1715975" y="832636"/>
                </a:lnTo>
                <a:lnTo>
                  <a:pt x="0" y="832636"/>
                </a:lnTo>
                <a:lnTo>
                  <a:pt x="0" y="0"/>
                </a:lnTo>
                <a:close/>
              </a:path>
            </a:pathLst>
          </a:custGeom>
          <a:blipFill>
            <a:blip r:embed="rId3">
              <a:extLst>
                <a:ext uri="{96DAC541-7B7A-43D3-8B79-37D633B846F1}">
                  <asvg:svgBlip xmlns:asvg="http://schemas.microsoft.com/office/drawing/2016/SVG/main" r:embed="rId4"/>
                </a:ext>
              </a:extLst>
            </a:blip>
            <a:stretch>
              <a:fillRect l="0" t="0" r="-278167" b="-557498"/>
            </a:stretch>
          </a:blipFill>
        </p:spPr>
      </p:sp>
      <p:sp>
        <p:nvSpPr>
          <p:cNvPr name="Freeform 11" id="11"/>
          <p:cNvSpPr/>
          <p:nvPr/>
        </p:nvSpPr>
        <p:spPr>
          <a:xfrm flipH="false" flipV="false" rot="0">
            <a:off x="16688900" y="1476899"/>
            <a:ext cx="1140800" cy="541880"/>
          </a:xfrm>
          <a:custGeom>
            <a:avLst/>
            <a:gdLst/>
            <a:ahLst/>
            <a:cxnLst/>
            <a:rect r="r" b="b" t="t" l="l"/>
            <a:pathLst>
              <a:path h="541880" w="1140800">
                <a:moveTo>
                  <a:pt x="0" y="0"/>
                </a:moveTo>
                <a:lnTo>
                  <a:pt x="1140800" y="0"/>
                </a:lnTo>
                <a:lnTo>
                  <a:pt x="1140800" y="541880"/>
                </a:lnTo>
                <a:lnTo>
                  <a:pt x="0" y="541880"/>
                </a:lnTo>
                <a:lnTo>
                  <a:pt x="0" y="0"/>
                </a:lnTo>
                <a:close/>
              </a:path>
            </a:pathLst>
          </a:custGeom>
          <a:blipFill>
            <a:blip r:embed="rId3">
              <a:extLst>
                <a:ext uri="{96DAC541-7B7A-43D3-8B79-37D633B846F1}">
                  <asvg:svgBlip xmlns:asvg="http://schemas.microsoft.com/office/drawing/2016/SVG/main" r:embed="rId4"/>
                </a:ext>
              </a:extLst>
            </a:blip>
            <a:stretch>
              <a:fillRect l="-50418" t="-145039" r="-418415" b="-765254"/>
            </a:stretch>
          </a:blipFill>
        </p:spPr>
      </p:sp>
      <p:sp>
        <p:nvSpPr>
          <p:cNvPr name="Freeform 12" id="12"/>
          <p:cNvSpPr/>
          <p:nvPr/>
        </p:nvSpPr>
        <p:spPr>
          <a:xfrm flipH="false" flipV="false" rot="0">
            <a:off x="1658100" y="990965"/>
            <a:ext cx="1878821" cy="940576"/>
          </a:xfrm>
          <a:custGeom>
            <a:avLst/>
            <a:gdLst/>
            <a:ahLst/>
            <a:cxnLst/>
            <a:rect r="r" b="b" t="t" l="l"/>
            <a:pathLst>
              <a:path h="940576" w="1878821">
                <a:moveTo>
                  <a:pt x="0" y="0"/>
                </a:moveTo>
                <a:lnTo>
                  <a:pt x="1878821" y="0"/>
                </a:lnTo>
                <a:lnTo>
                  <a:pt x="1878821" y="940576"/>
                </a:lnTo>
                <a:lnTo>
                  <a:pt x="0" y="940576"/>
                </a:lnTo>
                <a:lnTo>
                  <a:pt x="0" y="0"/>
                </a:lnTo>
                <a:close/>
              </a:path>
            </a:pathLst>
          </a:custGeom>
          <a:blipFill>
            <a:blip r:embed="rId5">
              <a:extLst>
                <a:ext uri="{96DAC541-7B7A-43D3-8B79-37D633B846F1}">
                  <asvg:svgBlip xmlns:asvg="http://schemas.microsoft.com/office/drawing/2016/SVG/main" r:embed="rId6"/>
                </a:ext>
              </a:extLst>
            </a:blip>
            <a:stretch>
              <a:fillRect l="-32053" t="0" r="-126199" b="-328636"/>
            </a:stretch>
          </a:blipFill>
        </p:spPr>
      </p:sp>
      <p:sp>
        <p:nvSpPr>
          <p:cNvPr name="Freeform 13" id="13"/>
          <p:cNvSpPr/>
          <p:nvPr/>
        </p:nvSpPr>
        <p:spPr>
          <a:xfrm flipH="false" flipV="false" rot="0">
            <a:off x="8288648" y="8189421"/>
            <a:ext cx="855352" cy="951932"/>
          </a:xfrm>
          <a:custGeom>
            <a:avLst/>
            <a:gdLst/>
            <a:ahLst/>
            <a:cxnLst/>
            <a:rect r="r" b="b" t="t" l="l"/>
            <a:pathLst>
              <a:path h="951932" w="855352">
                <a:moveTo>
                  <a:pt x="0" y="0"/>
                </a:moveTo>
                <a:lnTo>
                  <a:pt x="855352" y="0"/>
                </a:lnTo>
                <a:lnTo>
                  <a:pt x="855352" y="951932"/>
                </a:lnTo>
                <a:lnTo>
                  <a:pt x="0" y="951932"/>
                </a:lnTo>
                <a:lnTo>
                  <a:pt x="0" y="0"/>
                </a:lnTo>
                <a:close/>
              </a:path>
            </a:pathLst>
          </a:custGeom>
          <a:blipFill>
            <a:blip r:embed="rId7">
              <a:extLst>
                <a:ext uri="{96DAC541-7B7A-43D3-8B79-37D633B846F1}">
                  <asvg:svgBlip xmlns:asvg="http://schemas.microsoft.com/office/drawing/2016/SVG/main" r:embed="rId8"/>
                </a:ext>
              </a:extLst>
            </a:blip>
            <a:stretch>
              <a:fillRect l="0" t="-67133" r="-676375" b="-245089"/>
            </a:stretch>
          </a:blipFill>
        </p:spPr>
      </p:sp>
      <p:grpSp>
        <p:nvGrpSpPr>
          <p:cNvPr name="Group 14" id="14"/>
          <p:cNvGrpSpPr/>
          <p:nvPr/>
        </p:nvGrpSpPr>
        <p:grpSpPr>
          <a:xfrm rot="0">
            <a:off x="6613498" y="1931541"/>
            <a:ext cx="792553" cy="79255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8665387"/>
            <a:ext cx="592913" cy="5929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9" id="1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5400000">
            <a:off x="8568032" y="1124577"/>
            <a:ext cx="950441" cy="837964"/>
          </a:xfrm>
          <a:custGeom>
            <a:avLst/>
            <a:gdLst/>
            <a:ahLst/>
            <a:cxnLst/>
            <a:rect r="r" b="b" t="t" l="l"/>
            <a:pathLst>
              <a:path h="837964" w="950441">
                <a:moveTo>
                  <a:pt x="0" y="0"/>
                </a:moveTo>
                <a:lnTo>
                  <a:pt x="950441" y="0"/>
                </a:lnTo>
                <a:lnTo>
                  <a:pt x="950441" y="837964"/>
                </a:lnTo>
                <a:lnTo>
                  <a:pt x="0" y="837964"/>
                </a:lnTo>
                <a:lnTo>
                  <a:pt x="0" y="0"/>
                </a:lnTo>
                <a:close/>
              </a:path>
            </a:pathLst>
          </a:custGeom>
          <a:blipFill>
            <a:blip r:embed="rId9">
              <a:extLst>
                <a:ext uri="{96DAC541-7B7A-43D3-8B79-37D633B846F1}">
                  <asvg:svgBlip xmlns:asvg="http://schemas.microsoft.com/office/drawing/2016/SVG/main" r:embed="rId10"/>
                </a:ext>
              </a:extLst>
            </a:blip>
            <a:stretch>
              <a:fillRect l="-74975" t="0" r="-422175" b="-480018"/>
            </a:stretch>
          </a:blipFill>
        </p:spPr>
      </p:sp>
      <p:sp>
        <p:nvSpPr>
          <p:cNvPr name="Freeform 21" id="21"/>
          <p:cNvSpPr/>
          <p:nvPr/>
        </p:nvSpPr>
        <p:spPr>
          <a:xfrm flipH="false" flipV="false" rot="-732139">
            <a:off x="2332037" y="3574892"/>
            <a:ext cx="1801686" cy="1801686"/>
          </a:xfrm>
          <a:custGeom>
            <a:avLst/>
            <a:gdLst/>
            <a:ahLst/>
            <a:cxnLst/>
            <a:rect r="r" b="b" t="t" l="l"/>
            <a:pathLst>
              <a:path h="1801686" w="1801686">
                <a:moveTo>
                  <a:pt x="0" y="0"/>
                </a:moveTo>
                <a:lnTo>
                  <a:pt x="1801685" y="0"/>
                </a:lnTo>
                <a:lnTo>
                  <a:pt x="1801685" y="1801685"/>
                </a:lnTo>
                <a:lnTo>
                  <a:pt x="0" y="1801685"/>
                </a:lnTo>
                <a:lnTo>
                  <a:pt x="0" y="0"/>
                </a:lnTo>
                <a:close/>
              </a:path>
            </a:pathLst>
          </a:custGeom>
          <a:blipFill>
            <a:blip r:embed="rId11"/>
            <a:stretch>
              <a:fillRect l="0" t="0" r="0" b="0"/>
            </a:stretch>
          </a:blipFill>
        </p:spPr>
      </p:sp>
      <p:sp>
        <p:nvSpPr>
          <p:cNvPr name="Freeform 22" id="22"/>
          <p:cNvSpPr/>
          <p:nvPr/>
        </p:nvSpPr>
        <p:spPr>
          <a:xfrm flipH="false" flipV="false" rot="0">
            <a:off x="2445708" y="6103006"/>
            <a:ext cx="1091213" cy="1091213"/>
          </a:xfrm>
          <a:custGeom>
            <a:avLst/>
            <a:gdLst/>
            <a:ahLst/>
            <a:cxnLst/>
            <a:rect r="r" b="b" t="t" l="l"/>
            <a:pathLst>
              <a:path h="1091213" w="1091213">
                <a:moveTo>
                  <a:pt x="0" y="0"/>
                </a:moveTo>
                <a:lnTo>
                  <a:pt x="1091213" y="0"/>
                </a:lnTo>
                <a:lnTo>
                  <a:pt x="1091213" y="1091214"/>
                </a:lnTo>
                <a:lnTo>
                  <a:pt x="0" y="1091214"/>
                </a:lnTo>
                <a:lnTo>
                  <a:pt x="0" y="0"/>
                </a:lnTo>
                <a:close/>
              </a:path>
            </a:pathLst>
          </a:custGeom>
          <a:blipFill>
            <a:blip r:embed="rId12"/>
            <a:stretch>
              <a:fillRect l="0" t="0" r="0" b="0"/>
            </a:stretch>
          </a:blipFill>
        </p:spPr>
      </p:sp>
      <p:sp>
        <p:nvSpPr>
          <p:cNvPr name="Freeform 23" id="23"/>
          <p:cNvSpPr/>
          <p:nvPr/>
        </p:nvSpPr>
        <p:spPr>
          <a:xfrm flipH="false" flipV="false" rot="0">
            <a:off x="4303776" y="7194220"/>
            <a:ext cx="1228235" cy="1228235"/>
          </a:xfrm>
          <a:custGeom>
            <a:avLst/>
            <a:gdLst/>
            <a:ahLst/>
            <a:cxnLst/>
            <a:rect r="r" b="b" t="t" l="l"/>
            <a:pathLst>
              <a:path h="1228235" w="1228235">
                <a:moveTo>
                  <a:pt x="0" y="0"/>
                </a:moveTo>
                <a:lnTo>
                  <a:pt x="1228235" y="0"/>
                </a:lnTo>
                <a:lnTo>
                  <a:pt x="1228235" y="1228235"/>
                </a:lnTo>
                <a:lnTo>
                  <a:pt x="0" y="1228235"/>
                </a:lnTo>
                <a:lnTo>
                  <a:pt x="0" y="0"/>
                </a:lnTo>
                <a:close/>
              </a:path>
            </a:pathLst>
          </a:custGeom>
          <a:blipFill>
            <a:blip r:embed="rId13"/>
            <a:stretch>
              <a:fillRect l="0" t="0" r="0" b="0"/>
            </a:stretch>
          </a:blipFill>
        </p:spPr>
      </p:sp>
      <p:sp>
        <p:nvSpPr>
          <p:cNvPr name="Freeform 24" id="24"/>
          <p:cNvSpPr/>
          <p:nvPr/>
        </p:nvSpPr>
        <p:spPr>
          <a:xfrm flipH="false" flipV="false" rot="516825">
            <a:off x="6318936" y="6316498"/>
            <a:ext cx="1381678" cy="1381678"/>
          </a:xfrm>
          <a:custGeom>
            <a:avLst/>
            <a:gdLst/>
            <a:ahLst/>
            <a:cxnLst/>
            <a:rect r="r" b="b" t="t" l="l"/>
            <a:pathLst>
              <a:path h="1381678" w="1381678">
                <a:moveTo>
                  <a:pt x="0" y="0"/>
                </a:moveTo>
                <a:lnTo>
                  <a:pt x="1381678" y="0"/>
                </a:lnTo>
                <a:lnTo>
                  <a:pt x="1381678" y="1381678"/>
                </a:lnTo>
                <a:lnTo>
                  <a:pt x="0" y="1381678"/>
                </a:lnTo>
                <a:lnTo>
                  <a:pt x="0" y="0"/>
                </a:lnTo>
                <a:close/>
              </a:path>
            </a:pathLst>
          </a:custGeom>
          <a:blipFill>
            <a:blip r:embed="rId14"/>
            <a:stretch>
              <a:fillRect l="0" t="0" r="0" b="0"/>
            </a:stretch>
          </a:blipFill>
        </p:spPr>
      </p:sp>
      <p:sp>
        <p:nvSpPr>
          <p:cNvPr name="Freeform 25" id="25"/>
          <p:cNvSpPr/>
          <p:nvPr/>
        </p:nvSpPr>
        <p:spPr>
          <a:xfrm flipH="false" flipV="false" rot="669574">
            <a:off x="6700782" y="4438230"/>
            <a:ext cx="1410540" cy="1410540"/>
          </a:xfrm>
          <a:custGeom>
            <a:avLst/>
            <a:gdLst/>
            <a:ahLst/>
            <a:cxnLst/>
            <a:rect r="r" b="b" t="t" l="l"/>
            <a:pathLst>
              <a:path h="1410540" w="1410540">
                <a:moveTo>
                  <a:pt x="0" y="0"/>
                </a:moveTo>
                <a:lnTo>
                  <a:pt x="1410540" y="0"/>
                </a:lnTo>
                <a:lnTo>
                  <a:pt x="1410540" y="1410540"/>
                </a:lnTo>
                <a:lnTo>
                  <a:pt x="0" y="1410540"/>
                </a:lnTo>
                <a:lnTo>
                  <a:pt x="0" y="0"/>
                </a:lnTo>
                <a:close/>
              </a:path>
            </a:pathLst>
          </a:custGeom>
          <a:blipFill>
            <a:blip r:embed="rId15"/>
            <a:stretch>
              <a:fillRect l="0" t="0" r="0" b="0"/>
            </a:stretch>
          </a:blipFill>
        </p:spPr>
      </p:sp>
      <p:sp>
        <p:nvSpPr>
          <p:cNvPr name="Freeform 26" id="26"/>
          <p:cNvSpPr/>
          <p:nvPr/>
        </p:nvSpPr>
        <p:spPr>
          <a:xfrm flipH="false" flipV="false" rot="0">
            <a:off x="4410398" y="2415138"/>
            <a:ext cx="2060597" cy="2060597"/>
          </a:xfrm>
          <a:custGeom>
            <a:avLst/>
            <a:gdLst/>
            <a:ahLst/>
            <a:cxnLst/>
            <a:rect r="r" b="b" t="t" l="l"/>
            <a:pathLst>
              <a:path h="2060597" w="2060597">
                <a:moveTo>
                  <a:pt x="0" y="0"/>
                </a:moveTo>
                <a:lnTo>
                  <a:pt x="2060597" y="0"/>
                </a:lnTo>
                <a:lnTo>
                  <a:pt x="2060597" y="2060597"/>
                </a:lnTo>
                <a:lnTo>
                  <a:pt x="0" y="2060597"/>
                </a:lnTo>
                <a:lnTo>
                  <a:pt x="0" y="0"/>
                </a:lnTo>
                <a:close/>
              </a:path>
            </a:pathLst>
          </a:custGeom>
          <a:blipFill>
            <a:blip r:embed="rId16"/>
            <a:stretch>
              <a:fillRect l="0" t="0" r="0" b="0"/>
            </a:stretch>
          </a:blipFill>
        </p:spPr>
      </p:sp>
      <p:sp>
        <p:nvSpPr>
          <p:cNvPr name="TextBox 27" id="27"/>
          <p:cNvSpPr txBox="true"/>
          <p:nvPr/>
        </p:nvSpPr>
        <p:spPr>
          <a:xfrm rot="0">
            <a:off x="10425124" y="4100217"/>
            <a:ext cx="6273301" cy="3948430"/>
          </a:xfrm>
          <a:prstGeom prst="rect">
            <a:avLst/>
          </a:prstGeom>
        </p:spPr>
        <p:txBody>
          <a:bodyPr anchor="t" rtlCol="false" tIns="0" lIns="0" bIns="0" rIns="0">
            <a:spAutoFit/>
          </a:bodyPr>
          <a:lstStyle/>
          <a:p>
            <a:pPr algn="ctr">
              <a:lnSpc>
                <a:spcPts val="3920"/>
              </a:lnSpc>
              <a:spcBef>
                <a:spcPct val="0"/>
              </a:spcBef>
            </a:pPr>
            <a:r>
              <a:rPr lang="en-US" sz="2800">
                <a:solidFill>
                  <a:srgbClr val="000000"/>
                </a:solidFill>
                <a:latin typeface="DM Sans"/>
                <a:ea typeface="DM Sans"/>
                <a:cs typeface="DM Sans"/>
                <a:sym typeface="DM Sans"/>
              </a:rPr>
              <a:t>Anxiety attacks can be influenced by everyday habits like sleep, exercise, caffeine, and alcohol intake. This study explores how these lifestyle choices affect anxiety severity using real-world data. By analyzing patterns, we can uncover insights to help people manage anxiety better!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5400000">
            <a:off x="16770119" y="4940230"/>
            <a:ext cx="950441" cy="837964"/>
          </a:xfrm>
          <a:custGeom>
            <a:avLst/>
            <a:gdLst/>
            <a:ahLst/>
            <a:cxnLst/>
            <a:rect r="r" b="b" t="t" l="l"/>
            <a:pathLst>
              <a:path h="837964" w="950441">
                <a:moveTo>
                  <a:pt x="0" y="0"/>
                </a:moveTo>
                <a:lnTo>
                  <a:pt x="950441" y="0"/>
                </a:lnTo>
                <a:lnTo>
                  <a:pt x="950441" y="837964"/>
                </a:lnTo>
                <a:lnTo>
                  <a:pt x="0" y="837964"/>
                </a:lnTo>
                <a:lnTo>
                  <a:pt x="0" y="0"/>
                </a:lnTo>
                <a:close/>
              </a:path>
            </a:pathLst>
          </a:custGeom>
          <a:blipFill>
            <a:blip r:embed="rId3">
              <a:extLst>
                <a:ext uri="{96DAC541-7B7A-43D3-8B79-37D633B846F1}">
                  <asvg:svgBlip xmlns:asvg="http://schemas.microsoft.com/office/drawing/2016/SVG/main" r:embed="rId4"/>
                </a:ext>
              </a:extLst>
            </a:blip>
            <a:stretch>
              <a:fillRect l="-74975" t="0" r="-422175" b="-480018"/>
            </a:stretch>
          </a:blipFill>
        </p:spPr>
      </p:sp>
      <p:sp>
        <p:nvSpPr>
          <p:cNvPr name="Freeform 4" id="4"/>
          <p:cNvSpPr/>
          <p:nvPr/>
        </p:nvSpPr>
        <p:spPr>
          <a:xfrm flipH="false" flipV="false" rot="-10800000">
            <a:off x="8286013" y="8188162"/>
            <a:ext cx="1715975" cy="1490866"/>
          </a:xfrm>
          <a:custGeom>
            <a:avLst/>
            <a:gdLst/>
            <a:ahLst/>
            <a:cxnLst/>
            <a:rect r="r" b="b" t="t" l="l"/>
            <a:pathLst>
              <a:path h="1490866" w="1715975">
                <a:moveTo>
                  <a:pt x="0" y="0"/>
                </a:moveTo>
                <a:lnTo>
                  <a:pt x="1715974" y="0"/>
                </a:lnTo>
                <a:lnTo>
                  <a:pt x="1715974" y="1490865"/>
                </a:lnTo>
                <a:lnTo>
                  <a:pt x="0" y="1490865"/>
                </a:lnTo>
                <a:lnTo>
                  <a:pt x="0" y="0"/>
                </a:lnTo>
                <a:close/>
              </a:path>
            </a:pathLst>
          </a:custGeom>
          <a:blipFill>
            <a:blip r:embed="rId5">
              <a:extLst>
                <a:ext uri="{96DAC541-7B7A-43D3-8B79-37D633B846F1}">
                  <asvg:svgBlip xmlns:asvg="http://schemas.microsoft.com/office/drawing/2016/SVG/main" r:embed="rId6"/>
                </a:ext>
              </a:extLst>
            </a:blip>
            <a:stretch>
              <a:fillRect l="0" t="0" r="-278167" b="-267208"/>
            </a:stretch>
          </a:blipFill>
        </p:spPr>
      </p:sp>
      <p:sp>
        <p:nvSpPr>
          <p:cNvPr name="TextBox 5" id="5"/>
          <p:cNvSpPr txBox="true"/>
          <p:nvPr/>
        </p:nvSpPr>
        <p:spPr>
          <a:xfrm rot="0">
            <a:off x="1028700" y="1190625"/>
            <a:ext cx="4346400" cy="1176019"/>
          </a:xfrm>
          <a:prstGeom prst="rect">
            <a:avLst/>
          </a:prstGeom>
        </p:spPr>
        <p:txBody>
          <a:bodyPr anchor="t" rtlCol="false" tIns="0" lIns="0" bIns="0" rIns="0">
            <a:spAutoFit/>
          </a:bodyPr>
          <a:lstStyle/>
          <a:p>
            <a:pPr algn="l">
              <a:lnSpc>
                <a:spcPts val="8799"/>
              </a:lnSpc>
            </a:pPr>
            <a:r>
              <a:rPr lang="en-US" sz="8799" spc="219">
                <a:solidFill>
                  <a:srgbClr val="000000"/>
                </a:solidFill>
                <a:latin typeface="Gulfs Display"/>
                <a:ea typeface="Gulfs Display"/>
                <a:cs typeface="Gulfs Display"/>
                <a:sym typeface="Gulfs Display"/>
              </a:rPr>
              <a:t>DATA</a:t>
            </a:r>
          </a:p>
        </p:txBody>
      </p:sp>
      <p:grpSp>
        <p:nvGrpSpPr>
          <p:cNvPr name="Group 6" id="6"/>
          <p:cNvGrpSpPr/>
          <p:nvPr/>
        </p:nvGrpSpPr>
        <p:grpSpPr>
          <a:xfrm rot="0">
            <a:off x="5064383" y="717983"/>
            <a:ext cx="621433" cy="62143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772701" y="7538083"/>
            <a:ext cx="3602801" cy="4009602"/>
          </a:xfrm>
          <a:custGeom>
            <a:avLst/>
            <a:gdLst/>
            <a:ahLst/>
            <a:cxnLst/>
            <a:rect r="r" b="b" t="t" l="l"/>
            <a:pathLst>
              <a:path h="4009602" w="3602801">
                <a:moveTo>
                  <a:pt x="0" y="0"/>
                </a:moveTo>
                <a:lnTo>
                  <a:pt x="3602802" y="0"/>
                </a:lnTo>
                <a:lnTo>
                  <a:pt x="3602802" y="4009602"/>
                </a:lnTo>
                <a:lnTo>
                  <a:pt x="0" y="4009602"/>
                </a:lnTo>
                <a:lnTo>
                  <a:pt x="0" y="0"/>
                </a:lnTo>
                <a:close/>
              </a:path>
            </a:pathLst>
          </a:custGeom>
          <a:blipFill>
            <a:blip r:embed="rId7">
              <a:extLst>
                <a:ext uri="{96DAC541-7B7A-43D3-8B79-37D633B846F1}">
                  <asvg:svgBlip xmlns:asvg="http://schemas.microsoft.com/office/drawing/2016/SVG/main" r:embed="rId8"/>
                </a:ext>
              </a:extLst>
            </a:blip>
            <a:stretch>
              <a:fillRect l="0" t="-67133" r="-676375" b="-245089"/>
            </a:stretch>
          </a:blipFill>
        </p:spPr>
      </p:sp>
      <p:sp>
        <p:nvSpPr>
          <p:cNvPr name="TextBox 10" id="10"/>
          <p:cNvSpPr txBox="true"/>
          <p:nvPr/>
        </p:nvSpPr>
        <p:spPr>
          <a:xfrm rot="0">
            <a:off x="1256135" y="2299969"/>
            <a:ext cx="13830207" cy="6667341"/>
          </a:xfrm>
          <a:prstGeom prst="rect">
            <a:avLst/>
          </a:prstGeom>
        </p:spPr>
        <p:txBody>
          <a:bodyPr anchor="t" rtlCol="false" tIns="0" lIns="0" bIns="0" rIns="0">
            <a:spAutoFit/>
          </a:bodyPr>
          <a:lstStyle/>
          <a:p>
            <a:pPr algn="l">
              <a:lnSpc>
                <a:spcPts val="4226"/>
              </a:lnSpc>
            </a:pPr>
            <a:r>
              <a:rPr lang="en-US" sz="3019">
                <a:solidFill>
                  <a:srgbClr val="000000"/>
                </a:solidFill>
                <a:latin typeface="DM Sans"/>
                <a:ea typeface="DM Sans"/>
                <a:cs typeface="DM Sans"/>
                <a:sym typeface="DM Sans"/>
                <a:hlinkClick r:id="rId9" tooltip="https://www.kaggle.com/datasets/arshmankhalid/panic-attacks-ml-ready-dataset/data"/>
              </a:rPr>
              <a:t>Dataset contains 12,000+ records detailing various factors related to anxiety attacks, including demographics, lifestyle habits, stress levels, and physiological responses. It is designed for data analysis, machine learning, and mental health research, helping to explore patterns, triggers, and potential correlations in anxiety disorders.</a:t>
            </a:r>
          </a:p>
          <a:p>
            <a:pPr algn="l">
              <a:lnSpc>
                <a:spcPts val="4226"/>
              </a:lnSpc>
            </a:pPr>
            <a:r>
              <a:rPr lang="en-US" sz="3019">
                <a:solidFill>
                  <a:srgbClr val="000000"/>
                </a:solidFill>
                <a:latin typeface="DM Sans"/>
                <a:ea typeface="DM Sans"/>
                <a:cs typeface="DM Sans"/>
                <a:sym typeface="DM Sans"/>
                <a:hlinkClick r:id="rId10" tooltip="https://www.kaggle.com/datasets/arshmankhalid/panic-attacks-ml-ready-dataset/data"/>
              </a:rPr>
              <a:t>Key Features:</a:t>
            </a:r>
          </a:p>
          <a:p>
            <a:pPr algn="l">
              <a:lnSpc>
                <a:spcPts val="4226"/>
              </a:lnSpc>
            </a:pPr>
            <a:r>
              <a:rPr lang="en-US" sz="3019">
                <a:solidFill>
                  <a:srgbClr val="000000"/>
                </a:solidFill>
                <a:latin typeface="DM Sans"/>
                <a:ea typeface="DM Sans"/>
                <a:cs typeface="DM Sans"/>
                <a:sym typeface="DM Sans"/>
                <a:hlinkClick r:id="rId11" tooltip="https://www.kaggle.com/datasets/arshmankhalid/panic-attacks-ml-ready-dataset/data"/>
              </a:rPr>
              <a:t>🧑‍🤝‍🧑 Demographics: Age, Gender, Occupation</a:t>
            </a:r>
          </a:p>
          <a:p>
            <a:pPr algn="l">
              <a:lnSpc>
                <a:spcPts val="4226"/>
              </a:lnSpc>
            </a:pPr>
            <a:r>
              <a:rPr lang="en-US" sz="3019">
                <a:solidFill>
                  <a:srgbClr val="000000"/>
                </a:solidFill>
                <a:latin typeface="DM Sans"/>
                <a:ea typeface="DM Sans"/>
                <a:cs typeface="DM Sans"/>
                <a:sym typeface="DM Sans"/>
                <a:hlinkClick r:id="rId12" tooltip="https://www.kaggle.com/datasets/arshmankhalid/panic-attacks-ml-ready-dataset/data"/>
              </a:rPr>
              <a:t>🌙 Lifestyle Factors: Sleep, Physical Activity, Diet, Caffeine &amp; Alcohol Intake</a:t>
            </a:r>
          </a:p>
          <a:p>
            <a:pPr algn="l">
              <a:lnSpc>
                <a:spcPts val="4226"/>
              </a:lnSpc>
            </a:pPr>
            <a:r>
              <a:rPr lang="en-US" sz="3019">
                <a:solidFill>
                  <a:srgbClr val="000000"/>
                </a:solidFill>
                <a:latin typeface="DM Sans"/>
                <a:ea typeface="DM Sans"/>
                <a:cs typeface="DM Sans"/>
                <a:sym typeface="DM Sans"/>
                <a:hlinkClick r:id="rId13" tooltip="https://www.kaggle.com/datasets/arshmankhalid/panic-attacks-ml-ready-dataset/data"/>
              </a:rPr>
              <a:t>💓 Health Indicators: Heart Rate, Breathing Rate, Sweating, Dizziness</a:t>
            </a:r>
          </a:p>
          <a:p>
            <a:pPr algn="l">
              <a:lnSpc>
                <a:spcPts val="4226"/>
              </a:lnSpc>
            </a:pPr>
            <a:r>
              <a:rPr lang="en-US" sz="3019">
                <a:solidFill>
                  <a:srgbClr val="000000"/>
                </a:solidFill>
                <a:latin typeface="DM Sans"/>
                <a:ea typeface="DM Sans"/>
                <a:cs typeface="DM Sans"/>
                <a:sym typeface="DM Sans"/>
                <a:hlinkClick r:id="rId14" tooltip="https://www.kaggle.com/datasets/arshmankhalid/panic-attacks-ml-ready-dataset/data"/>
              </a:rPr>
              <a:t>🧠 Psychological Factors: Stress Level, Family History, Therapy &amp; Medication</a:t>
            </a:r>
          </a:p>
          <a:p>
            <a:pPr algn="l">
              <a:lnSpc>
                <a:spcPts val="4226"/>
              </a:lnSpc>
            </a:pPr>
            <a:r>
              <a:rPr lang="en-US" sz="3019">
                <a:solidFill>
                  <a:srgbClr val="000000"/>
                </a:solidFill>
                <a:latin typeface="DM Sans"/>
                <a:ea typeface="DM Sans"/>
                <a:cs typeface="DM Sans"/>
                <a:sym typeface="DM Sans"/>
                <a:hlinkClick r:id="rId15" tooltip="https://www.kaggle.com/datasets/arshmankhalid/panic-attacks-ml-ready-dataset/data"/>
              </a:rPr>
              <a:t>⚠️ Anxiety Attack Severity: Scale from 1 to 10</a:t>
            </a:r>
          </a:p>
          <a:p>
            <a:pPr algn="l">
              <a:lnSpc>
                <a:spcPts val="4226"/>
              </a:lnSpc>
            </a:pPr>
            <a:r>
              <a:rPr lang="en-US" sz="3019">
                <a:solidFill>
                  <a:srgbClr val="000000"/>
                </a:solidFill>
                <a:latin typeface="DM Sans"/>
                <a:ea typeface="DM Sans"/>
                <a:cs typeface="DM Sans"/>
                <a:sym typeface="DM Sans"/>
                <a:hlinkClick r:id="rId16" tooltip="https://www.kaggle.com/datasets/arshmankhalid/panic-attacks-ml-ready-dataset/data"/>
              </a:rPr>
              <a:t>Dataset link: link </a:t>
            </a:r>
          </a:p>
          <a:p>
            <a:pPr algn="l">
              <a:lnSpc>
                <a:spcPts val="2090"/>
              </a:lnSpc>
              <a:spcBef>
                <a:spcPct val="0"/>
              </a:spcBef>
            </a:pPr>
          </a:p>
        </p:txBody>
      </p:sp>
      <p:sp>
        <p:nvSpPr>
          <p:cNvPr name="Freeform 11" id="11"/>
          <p:cNvSpPr/>
          <p:nvPr/>
        </p:nvSpPr>
        <p:spPr>
          <a:xfrm flipH="false" flipV="false" rot="-5400000">
            <a:off x="8442086" y="-393302"/>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17">
              <a:extLst>
                <a:ext uri="{96DAC541-7B7A-43D3-8B79-37D633B846F1}">
                  <asvg:svgBlip xmlns:asvg="http://schemas.microsoft.com/office/drawing/2016/SVG/main" r:embed="rId18"/>
                </a:ext>
              </a:extLst>
            </a:blip>
            <a:stretch>
              <a:fillRect l="-185397" t="0" r="0" b="-187643"/>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828471" y="2125980"/>
            <a:ext cx="7093257" cy="7416904"/>
          </a:xfrm>
          <a:custGeom>
            <a:avLst/>
            <a:gdLst/>
            <a:ahLst/>
            <a:cxnLst/>
            <a:rect r="r" b="b" t="t" l="l"/>
            <a:pathLst>
              <a:path h="7416904" w="7093257">
                <a:moveTo>
                  <a:pt x="0" y="0"/>
                </a:moveTo>
                <a:lnTo>
                  <a:pt x="7093257" y="0"/>
                </a:lnTo>
                <a:lnTo>
                  <a:pt x="7093257" y="7416904"/>
                </a:lnTo>
                <a:lnTo>
                  <a:pt x="0" y="74169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860301" y="637102"/>
            <a:ext cx="4346400" cy="1509404"/>
          </a:xfrm>
          <a:prstGeom prst="rect">
            <a:avLst/>
          </a:prstGeom>
        </p:spPr>
        <p:txBody>
          <a:bodyPr anchor="t" rtlCol="false" tIns="0" lIns="0" bIns="0" rIns="0">
            <a:spAutoFit/>
          </a:bodyPr>
          <a:lstStyle/>
          <a:p>
            <a:pPr algn="l">
              <a:lnSpc>
                <a:spcPts val="5800"/>
              </a:lnSpc>
            </a:pPr>
            <a:r>
              <a:rPr lang="en-US" sz="5800" spc="145">
                <a:solidFill>
                  <a:srgbClr val="000000"/>
                </a:solidFill>
                <a:latin typeface="Gulfs Display"/>
                <a:ea typeface="Gulfs Display"/>
                <a:cs typeface="Gulfs Display"/>
                <a:sym typeface="Gulfs Display"/>
              </a:rPr>
              <a:t>DATA CLEANING </a:t>
            </a:r>
          </a:p>
        </p:txBody>
      </p:sp>
      <p:grpSp>
        <p:nvGrpSpPr>
          <p:cNvPr name="Group 5" id="5"/>
          <p:cNvGrpSpPr/>
          <p:nvPr/>
        </p:nvGrpSpPr>
        <p:grpSpPr>
          <a:xfrm rot="0">
            <a:off x="5064383" y="717983"/>
            <a:ext cx="621433" cy="62143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7" id="7"/>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772701" y="7538083"/>
            <a:ext cx="3602801" cy="4009602"/>
          </a:xfrm>
          <a:custGeom>
            <a:avLst/>
            <a:gdLst/>
            <a:ahLst/>
            <a:cxnLst/>
            <a:rect r="r" b="b" t="t" l="l"/>
            <a:pathLst>
              <a:path h="4009602" w="3602801">
                <a:moveTo>
                  <a:pt x="0" y="0"/>
                </a:moveTo>
                <a:lnTo>
                  <a:pt x="3602802" y="0"/>
                </a:lnTo>
                <a:lnTo>
                  <a:pt x="3602802" y="4009602"/>
                </a:lnTo>
                <a:lnTo>
                  <a:pt x="0" y="4009602"/>
                </a:lnTo>
                <a:lnTo>
                  <a:pt x="0" y="0"/>
                </a:lnTo>
                <a:close/>
              </a:path>
            </a:pathLst>
          </a:custGeom>
          <a:blipFill>
            <a:blip r:embed="rId5">
              <a:extLst>
                <a:ext uri="{96DAC541-7B7A-43D3-8B79-37D633B846F1}">
                  <asvg:svgBlip xmlns:asvg="http://schemas.microsoft.com/office/drawing/2016/SVG/main" r:embed="rId6"/>
                </a:ext>
              </a:extLst>
            </a:blip>
            <a:stretch>
              <a:fillRect l="0" t="-67133" r="-676375" b="-245089"/>
            </a:stretch>
          </a:blipFill>
        </p:spPr>
      </p:sp>
      <p:sp>
        <p:nvSpPr>
          <p:cNvPr name="Freeform 9" id="9"/>
          <p:cNvSpPr/>
          <p:nvPr/>
        </p:nvSpPr>
        <p:spPr>
          <a:xfrm flipH="false" flipV="false" rot="-5400000">
            <a:off x="8442086" y="-393302"/>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7">
              <a:extLst>
                <a:ext uri="{96DAC541-7B7A-43D3-8B79-37D633B846F1}">
                  <asvg:svgBlip xmlns:asvg="http://schemas.microsoft.com/office/drawing/2016/SVG/main" r:embed="rId8"/>
                </a:ext>
              </a:extLst>
            </a:blip>
            <a:stretch>
              <a:fillRect l="-185397" t="0" r="0" b="-187643"/>
            </a:stretch>
          </a:blipFill>
        </p:spPr>
      </p:sp>
      <p:sp>
        <p:nvSpPr>
          <p:cNvPr name="TextBox 10" id="10"/>
          <p:cNvSpPr txBox="true"/>
          <p:nvPr/>
        </p:nvSpPr>
        <p:spPr>
          <a:xfrm rot="0">
            <a:off x="8921728" y="1529715"/>
            <a:ext cx="8945731" cy="8488137"/>
          </a:xfrm>
          <a:prstGeom prst="rect">
            <a:avLst/>
          </a:prstGeom>
        </p:spPr>
        <p:txBody>
          <a:bodyPr anchor="t" rtlCol="false" tIns="0" lIns="0" bIns="0" rIns="0">
            <a:spAutoFit/>
          </a:bodyPr>
          <a:lstStyle/>
          <a:p>
            <a:pPr algn="l">
              <a:lnSpc>
                <a:spcPts val="3599"/>
              </a:lnSpc>
              <a:spcBef>
                <a:spcPct val="0"/>
              </a:spcBef>
            </a:pPr>
            <a:r>
              <a:rPr lang="en-US" b="true" sz="2571">
                <a:solidFill>
                  <a:srgbClr val="000000"/>
                </a:solidFill>
                <a:latin typeface="Canva Sans Bold"/>
                <a:ea typeface="Canva Sans Bold"/>
                <a:cs typeface="Canva Sans Bold"/>
                <a:sym typeface="Canva Sans Bold"/>
              </a:rPr>
              <a:t>✅ Removed Unnecessary Columns: </a:t>
            </a:r>
            <a:r>
              <a:rPr lang="en-US" sz="2571">
                <a:solidFill>
                  <a:srgbClr val="000000"/>
                </a:solidFill>
                <a:latin typeface="Canva Sans"/>
                <a:ea typeface="Canva Sans"/>
                <a:cs typeface="Canva Sans"/>
                <a:sym typeface="Canva Sans"/>
              </a:rPr>
              <a:t>Dropped constant-value or irrelevant columns (e.g., Caffeine_Impact, Exercise_vs_Stress).</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 Handled Missing Values Categorical Data: </a:t>
            </a:r>
            <a:r>
              <a:rPr lang="en-US" sz="2571">
                <a:solidFill>
                  <a:srgbClr val="000000"/>
                </a:solidFill>
                <a:latin typeface="Canva Sans"/>
                <a:ea typeface="Canva Sans"/>
                <a:cs typeface="Canva Sans"/>
                <a:sym typeface="Canva Sans"/>
              </a:rPr>
              <a:t>Filled missing values with the most frequent value (mode).</a:t>
            </a:r>
            <a:r>
              <a:rPr lang="en-US" b="true" sz="2571">
                <a:solidFill>
                  <a:srgbClr val="000000"/>
                </a:solidFill>
                <a:latin typeface="Canva Sans Bold"/>
                <a:ea typeface="Canva Sans Bold"/>
                <a:cs typeface="Canva Sans Bold"/>
                <a:sym typeface="Canva Sans Bold"/>
              </a:rPr>
              <a:t>Numerical Data:</a:t>
            </a:r>
            <a:r>
              <a:rPr lang="en-US" sz="2571">
                <a:solidFill>
                  <a:srgbClr val="000000"/>
                </a:solidFill>
                <a:latin typeface="Canva Sans"/>
                <a:ea typeface="Canva Sans"/>
                <a:cs typeface="Canva Sans"/>
                <a:sym typeface="Canva Sans"/>
              </a:rPr>
              <a:t> Replaced missing values with the median to avoid skewing the data.</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 Standardized Categorical Variables</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Label Encoding: </a:t>
            </a:r>
            <a:r>
              <a:rPr lang="en-US" sz="2571">
                <a:solidFill>
                  <a:srgbClr val="000000"/>
                </a:solidFill>
                <a:latin typeface="Canva Sans"/>
                <a:ea typeface="Canva Sans"/>
                <a:cs typeface="Canva Sans"/>
                <a:sym typeface="Canva Sans"/>
              </a:rPr>
              <a:t>Converted ordinal categorical variables (e.g., Gender, Age_Group, Medical_History) into numerical format.</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One-Hot Encoding: </a:t>
            </a:r>
            <a:r>
              <a:rPr lang="en-US" sz="2571">
                <a:solidFill>
                  <a:srgbClr val="000000"/>
                </a:solidFill>
                <a:latin typeface="Canva Sans"/>
                <a:ea typeface="Canva Sans"/>
                <a:cs typeface="Canva Sans"/>
                <a:sym typeface="Canva Sans"/>
              </a:rPr>
              <a:t>Created dummy variables for non-ordinal categorical features (e.g., Medication, Smoking).</a:t>
            </a:r>
          </a:p>
          <a:p>
            <a:pPr algn="l">
              <a:lnSpc>
                <a:spcPts val="3599"/>
              </a:lnSpc>
              <a:spcBef>
                <a:spcPct val="0"/>
              </a:spcBef>
            </a:pPr>
            <a:r>
              <a:rPr lang="en-US" b="true" sz="2571">
                <a:solidFill>
                  <a:srgbClr val="000000"/>
                </a:solidFill>
                <a:latin typeface="Canva Sans Bold"/>
                <a:ea typeface="Canva Sans Bold"/>
                <a:cs typeface="Canva Sans Bold"/>
                <a:sym typeface="Canva Sans Bold"/>
              </a:rPr>
              <a:t>✅ Verified Data Integrity </a:t>
            </a:r>
          </a:p>
          <a:p>
            <a:pPr algn="l" marL="1110329" indent="-370110" lvl="2">
              <a:lnSpc>
                <a:spcPts val="3599"/>
              </a:lnSpc>
              <a:buFont typeface="Arial"/>
              <a:buChar char="⚬"/>
            </a:pPr>
            <a:r>
              <a:rPr lang="en-US" sz="2571">
                <a:solidFill>
                  <a:srgbClr val="000000"/>
                </a:solidFill>
                <a:latin typeface="Canva Sans"/>
                <a:ea typeface="Canva Sans"/>
                <a:cs typeface="Canva Sans"/>
                <a:sym typeface="Canva Sans"/>
              </a:rPr>
              <a:t>Checked for duplicate records.</a:t>
            </a:r>
          </a:p>
          <a:p>
            <a:pPr algn="l" marL="1110329" indent="-370110" lvl="2">
              <a:lnSpc>
                <a:spcPts val="3599"/>
              </a:lnSpc>
              <a:buFont typeface="Arial"/>
              <a:buChar char="⚬"/>
            </a:pPr>
            <a:r>
              <a:rPr lang="en-US" sz="2571">
                <a:solidFill>
                  <a:srgbClr val="000000"/>
                </a:solidFill>
                <a:latin typeface="Canva Sans"/>
                <a:ea typeface="Canva Sans"/>
                <a:cs typeface="Canva Sans"/>
                <a:sym typeface="Canva Sans"/>
              </a:rPr>
              <a:t>Ensured no missing values remained after preprocessing.</a:t>
            </a:r>
          </a:p>
          <a:p>
            <a:pPr algn="l" marL="1110329" indent="-370110" lvl="2">
              <a:lnSpc>
                <a:spcPts val="3599"/>
              </a:lnSpc>
              <a:buFont typeface="Arial"/>
              <a:buChar char="⚬"/>
            </a:pPr>
            <a:r>
              <a:rPr lang="en-US" sz="2571">
                <a:solidFill>
                  <a:srgbClr val="000000"/>
                </a:solidFill>
                <a:latin typeface="Canva Sans"/>
                <a:ea typeface="Canva Sans"/>
                <a:cs typeface="Canva Sans"/>
                <a:sym typeface="Canva Sans"/>
              </a:rPr>
              <a:t>Confirmed data types were appropriate for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0">
            <a:off x="860301" y="1910309"/>
            <a:ext cx="5576918" cy="3934232"/>
          </a:xfrm>
          <a:custGeom>
            <a:avLst/>
            <a:gdLst/>
            <a:ahLst/>
            <a:cxnLst/>
            <a:rect r="r" b="b" t="t" l="l"/>
            <a:pathLst>
              <a:path h="3934232" w="5576918">
                <a:moveTo>
                  <a:pt x="0" y="0"/>
                </a:moveTo>
                <a:lnTo>
                  <a:pt x="5576919" y="0"/>
                </a:lnTo>
                <a:lnTo>
                  <a:pt x="5576919" y="3934232"/>
                </a:lnTo>
                <a:lnTo>
                  <a:pt x="0" y="3934232"/>
                </a:lnTo>
                <a:lnTo>
                  <a:pt x="0" y="0"/>
                </a:lnTo>
                <a:close/>
              </a:path>
            </a:pathLst>
          </a:custGeom>
          <a:blipFill>
            <a:blip r:embed="rId2"/>
            <a:stretch>
              <a:fillRect l="0" t="0" r="0" b="0"/>
            </a:stretch>
          </a:blipFill>
        </p:spPr>
      </p:sp>
      <p:sp>
        <p:nvSpPr>
          <p:cNvPr name="Freeform 3" id="3"/>
          <p:cNvSpPr/>
          <p:nvPr/>
        </p:nvSpPr>
        <p:spPr>
          <a:xfrm flipH="false" flipV="false" rot="0">
            <a:off x="6792492" y="1910309"/>
            <a:ext cx="5634412" cy="3934232"/>
          </a:xfrm>
          <a:custGeom>
            <a:avLst/>
            <a:gdLst/>
            <a:ahLst/>
            <a:cxnLst/>
            <a:rect r="r" b="b" t="t" l="l"/>
            <a:pathLst>
              <a:path h="3934232" w="5634412">
                <a:moveTo>
                  <a:pt x="0" y="0"/>
                </a:moveTo>
                <a:lnTo>
                  <a:pt x="5634413" y="0"/>
                </a:lnTo>
                <a:lnTo>
                  <a:pt x="5634413" y="3934232"/>
                </a:lnTo>
                <a:lnTo>
                  <a:pt x="0" y="3934232"/>
                </a:lnTo>
                <a:lnTo>
                  <a:pt x="0" y="0"/>
                </a:lnTo>
                <a:close/>
              </a:path>
            </a:pathLst>
          </a:custGeom>
          <a:blipFill>
            <a:blip r:embed="rId3"/>
            <a:stretch>
              <a:fillRect l="0" t="0" r="0" b="0"/>
            </a:stretch>
          </a:blipFill>
        </p:spPr>
      </p:sp>
      <p:sp>
        <p:nvSpPr>
          <p:cNvPr name="Freeform 4" id="4"/>
          <p:cNvSpPr/>
          <p:nvPr/>
        </p:nvSpPr>
        <p:spPr>
          <a:xfrm flipH="false" flipV="false" rot="0">
            <a:off x="1297253" y="6167228"/>
            <a:ext cx="5495240" cy="3091072"/>
          </a:xfrm>
          <a:custGeom>
            <a:avLst/>
            <a:gdLst/>
            <a:ahLst/>
            <a:cxnLst/>
            <a:rect r="r" b="b" t="t" l="l"/>
            <a:pathLst>
              <a:path h="3091072" w="5495240">
                <a:moveTo>
                  <a:pt x="0" y="0"/>
                </a:moveTo>
                <a:lnTo>
                  <a:pt x="5495239" y="0"/>
                </a:lnTo>
                <a:lnTo>
                  <a:pt x="5495239" y="3091072"/>
                </a:lnTo>
                <a:lnTo>
                  <a:pt x="0" y="3091072"/>
                </a:lnTo>
                <a:lnTo>
                  <a:pt x="0" y="0"/>
                </a:lnTo>
                <a:close/>
              </a:path>
            </a:pathLst>
          </a:custGeom>
          <a:blipFill>
            <a:blip r:embed="rId4"/>
            <a:stretch>
              <a:fillRect l="0" t="0" r="0" b="0"/>
            </a:stretch>
          </a:blipFill>
        </p:spPr>
      </p:sp>
      <p:sp>
        <p:nvSpPr>
          <p:cNvPr name="Freeform 5" id="5"/>
          <p:cNvSpPr/>
          <p:nvPr/>
        </p:nvSpPr>
        <p:spPr>
          <a:xfrm flipH="false" flipV="false" rot="0">
            <a:off x="7124938" y="6167228"/>
            <a:ext cx="5301966" cy="2949219"/>
          </a:xfrm>
          <a:custGeom>
            <a:avLst/>
            <a:gdLst/>
            <a:ahLst/>
            <a:cxnLst/>
            <a:rect r="r" b="b" t="t" l="l"/>
            <a:pathLst>
              <a:path h="2949219" w="5301966">
                <a:moveTo>
                  <a:pt x="0" y="0"/>
                </a:moveTo>
                <a:lnTo>
                  <a:pt x="5301967" y="0"/>
                </a:lnTo>
                <a:lnTo>
                  <a:pt x="5301967" y="2949218"/>
                </a:lnTo>
                <a:lnTo>
                  <a:pt x="0" y="2949218"/>
                </a:lnTo>
                <a:lnTo>
                  <a:pt x="0" y="0"/>
                </a:lnTo>
                <a:close/>
              </a:path>
            </a:pathLst>
          </a:custGeom>
          <a:blipFill>
            <a:blip r:embed="rId5"/>
            <a:stretch>
              <a:fillRect l="0" t="0" r="0" b="0"/>
            </a:stretch>
          </a:blipFill>
        </p:spPr>
      </p:sp>
      <p:sp>
        <p:nvSpPr>
          <p:cNvPr name="Freeform 6" id="6"/>
          <p:cNvSpPr/>
          <p:nvPr/>
        </p:nvSpPr>
        <p:spPr>
          <a:xfrm flipH="false" flipV="false" rot="0">
            <a:off x="12779330" y="2319822"/>
            <a:ext cx="4953822" cy="2823678"/>
          </a:xfrm>
          <a:custGeom>
            <a:avLst/>
            <a:gdLst/>
            <a:ahLst/>
            <a:cxnLst/>
            <a:rect r="r" b="b" t="t" l="l"/>
            <a:pathLst>
              <a:path h="2823678" w="4953822">
                <a:moveTo>
                  <a:pt x="0" y="0"/>
                </a:moveTo>
                <a:lnTo>
                  <a:pt x="4953821" y="0"/>
                </a:lnTo>
                <a:lnTo>
                  <a:pt x="4953821" y="2823678"/>
                </a:lnTo>
                <a:lnTo>
                  <a:pt x="0" y="2823678"/>
                </a:lnTo>
                <a:lnTo>
                  <a:pt x="0" y="0"/>
                </a:lnTo>
                <a:close/>
              </a:path>
            </a:pathLst>
          </a:custGeom>
          <a:blipFill>
            <a:blip r:embed="rId6"/>
            <a:stretch>
              <a:fillRect l="0" t="0" r="0" b="0"/>
            </a:stretch>
          </a:blipFill>
        </p:spPr>
      </p:sp>
      <p:sp>
        <p:nvSpPr>
          <p:cNvPr name="Freeform 7" id="7"/>
          <p:cNvSpPr/>
          <p:nvPr/>
        </p:nvSpPr>
        <p:spPr>
          <a:xfrm flipH="false" flipV="false" rot="0">
            <a:off x="12779330" y="6167228"/>
            <a:ext cx="5174068" cy="2949219"/>
          </a:xfrm>
          <a:custGeom>
            <a:avLst/>
            <a:gdLst/>
            <a:ahLst/>
            <a:cxnLst/>
            <a:rect r="r" b="b" t="t" l="l"/>
            <a:pathLst>
              <a:path h="2949219" w="5174068">
                <a:moveTo>
                  <a:pt x="0" y="0"/>
                </a:moveTo>
                <a:lnTo>
                  <a:pt x="5174067" y="0"/>
                </a:lnTo>
                <a:lnTo>
                  <a:pt x="5174067" y="2949218"/>
                </a:lnTo>
                <a:lnTo>
                  <a:pt x="0" y="2949218"/>
                </a:lnTo>
                <a:lnTo>
                  <a:pt x="0" y="0"/>
                </a:lnTo>
                <a:close/>
              </a:path>
            </a:pathLst>
          </a:custGeom>
          <a:blipFill>
            <a:blip r:embed="rId7"/>
            <a:stretch>
              <a:fillRect l="0" t="0" r="0" b="0"/>
            </a:stretch>
          </a:blipFill>
        </p:spPr>
      </p:sp>
      <p:sp>
        <p:nvSpPr>
          <p:cNvPr name="TextBox 8" id="8"/>
          <p:cNvSpPr txBox="true"/>
          <p:nvPr/>
        </p:nvSpPr>
        <p:spPr>
          <a:xfrm rot="0">
            <a:off x="860301" y="637102"/>
            <a:ext cx="10080454" cy="775979"/>
          </a:xfrm>
          <a:prstGeom prst="rect">
            <a:avLst/>
          </a:prstGeom>
        </p:spPr>
        <p:txBody>
          <a:bodyPr anchor="t" rtlCol="false" tIns="0" lIns="0" bIns="0" rIns="0">
            <a:spAutoFit/>
          </a:bodyPr>
          <a:lstStyle/>
          <a:p>
            <a:pPr algn="l">
              <a:lnSpc>
                <a:spcPts val="5800"/>
              </a:lnSpc>
            </a:pPr>
            <a:r>
              <a:rPr lang="en-US" sz="5800" spc="145">
                <a:solidFill>
                  <a:srgbClr val="000000"/>
                </a:solidFill>
                <a:latin typeface="Gulfs Display"/>
                <a:ea typeface="Gulfs Display"/>
                <a:cs typeface="Gulfs Display"/>
                <a:sym typeface="Gulfs Display"/>
              </a:rPr>
              <a:t>DATA VISUALIZATION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4428" y="9274312"/>
            <a:ext cx="19022428" cy="3086100"/>
            <a:chOff x="0" y="0"/>
            <a:chExt cx="5010022" cy="812800"/>
          </a:xfrm>
        </p:grpSpPr>
        <p:sp>
          <p:nvSpPr>
            <p:cNvPr name="Freeform 4" id="4"/>
            <p:cNvSpPr/>
            <p:nvPr/>
          </p:nvSpPr>
          <p:spPr>
            <a:xfrm flipH="false" flipV="false" rot="0">
              <a:off x="0" y="0"/>
              <a:ext cx="5010022" cy="812800"/>
            </a:xfrm>
            <a:custGeom>
              <a:avLst/>
              <a:gdLst/>
              <a:ahLst/>
              <a:cxnLst/>
              <a:rect r="r" b="b" t="t" l="l"/>
              <a:pathLst>
                <a:path h="812800" w="5010022">
                  <a:moveTo>
                    <a:pt x="0" y="0"/>
                  </a:moveTo>
                  <a:lnTo>
                    <a:pt x="5010022" y="0"/>
                  </a:lnTo>
                  <a:lnTo>
                    <a:pt x="5010022" y="812800"/>
                  </a:lnTo>
                  <a:lnTo>
                    <a:pt x="0" y="812800"/>
                  </a:lnTo>
                  <a:close/>
                </a:path>
              </a:pathLst>
            </a:custGeom>
            <a:solidFill>
              <a:srgbClr val="143440"/>
            </a:solidFill>
          </p:spPr>
        </p:sp>
        <p:sp>
          <p:nvSpPr>
            <p:cNvPr name="TextBox 5" id="5"/>
            <p:cNvSpPr txBox="true"/>
            <p:nvPr/>
          </p:nvSpPr>
          <p:spPr>
            <a:xfrm>
              <a:off x="0" y="-38100"/>
              <a:ext cx="5010022" cy="8509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684681" y="8492900"/>
            <a:ext cx="603319" cy="60331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684681" y="632331"/>
            <a:ext cx="621433" cy="6214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466069" y="4820122"/>
            <a:ext cx="621433" cy="6214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5400000">
            <a:off x="17199750" y="-643380"/>
            <a:ext cx="1264662" cy="1286760"/>
          </a:xfrm>
          <a:custGeom>
            <a:avLst/>
            <a:gdLst/>
            <a:ahLst/>
            <a:cxnLst/>
            <a:rect r="r" b="b" t="t" l="l"/>
            <a:pathLst>
              <a:path h="1286760" w="1264662">
                <a:moveTo>
                  <a:pt x="0" y="0"/>
                </a:moveTo>
                <a:lnTo>
                  <a:pt x="1264662" y="0"/>
                </a:lnTo>
                <a:lnTo>
                  <a:pt x="1264662" y="1286760"/>
                </a:lnTo>
                <a:lnTo>
                  <a:pt x="0" y="1286760"/>
                </a:lnTo>
                <a:lnTo>
                  <a:pt x="0" y="0"/>
                </a:lnTo>
                <a:close/>
              </a:path>
            </a:pathLst>
          </a:custGeom>
          <a:blipFill>
            <a:blip r:embed="rId3">
              <a:extLst>
                <a:ext uri="{96DAC541-7B7A-43D3-8B79-37D633B846F1}">
                  <asvg:svgBlip xmlns:asvg="http://schemas.microsoft.com/office/drawing/2016/SVG/main" r:embed="rId4"/>
                </a:ext>
              </a:extLst>
            </a:blip>
            <a:stretch>
              <a:fillRect l="-367834" t="-44527" r="0" b="-243376"/>
            </a:stretch>
          </a:blipFill>
        </p:spPr>
      </p:sp>
      <p:sp>
        <p:nvSpPr>
          <p:cNvPr name="TextBox 16" id="16"/>
          <p:cNvSpPr txBox="true"/>
          <p:nvPr/>
        </p:nvSpPr>
        <p:spPr>
          <a:xfrm rot="0">
            <a:off x="434038" y="2078355"/>
            <a:ext cx="11831967" cy="7017863"/>
          </a:xfrm>
          <a:prstGeom prst="rect">
            <a:avLst/>
          </a:prstGeom>
        </p:spPr>
        <p:txBody>
          <a:bodyPr anchor="t" rtlCol="false" tIns="0" lIns="0" bIns="0" rIns="0">
            <a:spAutoFit/>
          </a:bodyPr>
          <a:lstStyle/>
          <a:p>
            <a:pPr algn="just">
              <a:lnSpc>
                <a:spcPts val="3825"/>
              </a:lnSpc>
              <a:spcBef>
                <a:spcPct val="0"/>
              </a:spcBef>
            </a:pPr>
            <a:r>
              <a:rPr lang="en-US" b="true" sz="2732">
                <a:solidFill>
                  <a:srgbClr val="000000"/>
                </a:solidFill>
                <a:latin typeface="Canva Sans Bold"/>
                <a:ea typeface="Canva Sans Bold"/>
                <a:cs typeface="Canva Sans Bold"/>
                <a:sym typeface="Canva Sans Bold"/>
              </a:rPr>
              <a:t>Our analysis explored various factors that could influence panic attack frequency and severity, but no strong correlations were found. </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Age and Panic Attacks 🧓➡️😨</a:t>
            </a:r>
            <a:r>
              <a:rPr lang="en-US" sz="2306">
                <a:solidFill>
                  <a:srgbClr val="000000"/>
                </a:solidFill>
                <a:latin typeface="Canva Sans"/>
                <a:ea typeface="Canva Sans"/>
                <a:cs typeface="Canva Sans"/>
                <a:sym typeface="Canva Sans"/>
              </a:rPr>
              <a:t>: </a:t>
            </a:r>
            <a:r>
              <a:rPr lang="en-US" sz="2306">
                <a:solidFill>
                  <a:srgbClr val="000000"/>
                </a:solidFill>
                <a:latin typeface="Canva Sans"/>
                <a:ea typeface="Canva Sans"/>
                <a:cs typeface="Canva Sans"/>
                <a:sym typeface="Canva Sans"/>
              </a:rPr>
              <a:t>Age has no significant effect on how frequently panic attacks occur (correlation: -0.0168).</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Caffeine Intake ☕ and Panic Attacks:</a:t>
            </a:r>
            <a:r>
              <a:rPr lang="en-US" sz="2306">
                <a:solidFill>
                  <a:srgbClr val="000000"/>
                </a:solidFill>
                <a:latin typeface="Canva Sans"/>
                <a:ea typeface="Canva Sans"/>
                <a:cs typeface="Canva Sans"/>
                <a:sym typeface="Canva Sans"/>
              </a:rPr>
              <a:t> </a:t>
            </a:r>
            <a:r>
              <a:rPr lang="en-US" sz="2306">
                <a:solidFill>
                  <a:srgbClr val="000000"/>
                </a:solidFill>
                <a:latin typeface="Canva Sans"/>
                <a:ea typeface="Canva Sans"/>
                <a:cs typeface="Canva Sans"/>
                <a:sym typeface="Canva Sans"/>
              </a:rPr>
              <a:t>Drinking caffeine does not influence the number of panic attacks (correlation: 0.00036).</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Exercise and Panic Attacks 🏃‍♂️😌: </a:t>
            </a:r>
            <a:r>
              <a:rPr lang="en-US" sz="2306">
                <a:solidFill>
                  <a:srgbClr val="000000"/>
                </a:solidFill>
                <a:latin typeface="Canva Sans"/>
                <a:ea typeface="Canva Sans"/>
                <a:cs typeface="Canva Sans"/>
                <a:sym typeface="Canva Sans"/>
              </a:rPr>
              <a:t>Exercising more often doesn’t seem to lower panic attack frequency (correlation: 0.00118).</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Sleep Duration and Attack Severity 💤⏳:</a:t>
            </a:r>
            <a:r>
              <a:rPr lang="en-US" sz="2306">
                <a:solidFill>
                  <a:srgbClr val="000000"/>
                </a:solidFill>
                <a:latin typeface="Canva Sans"/>
                <a:ea typeface="Canva Sans"/>
                <a:cs typeface="Canva Sans"/>
                <a:sym typeface="Canva Sans"/>
              </a:rPr>
              <a:t> Getting more sleep does not significantly reduce panic attack duration (correlation: -0.0115).</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Triggers and Panic Attack Duration ⚠️:</a:t>
            </a:r>
            <a:r>
              <a:rPr lang="en-US" sz="2306">
                <a:solidFill>
                  <a:srgbClr val="000000"/>
                </a:solidFill>
                <a:latin typeface="Canva Sans"/>
                <a:ea typeface="Canva Sans"/>
                <a:cs typeface="Canva Sans"/>
                <a:sym typeface="Canva Sans"/>
              </a:rPr>
              <a:t> Stress, social anxiety, PTSD, and phobias may lead to longer panic attacks, but a deeper statistical analysis is needed to confirm.</a:t>
            </a:r>
          </a:p>
          <a:p>
            <a:pPr algn="just" marL="498066" indent="-249033" lvl="1">
              <a:lnSpc>
                <a:spcPts val="3229"/>
              </a:lnSpc>
              <a:spcBef>
                <a:spcPct val="0"/>
              </a:spcBef>
              <a:buFont typeface="Arial"/>
              <a:buChar char="•"/>
            </a:pPr>
            <a:r>
              <a:rPr lang="en-US" b="true" sz="2306">
                <a:solidFill>
                  <a:srgbClr val="000000"/>
                </a:solidFill>
                <a:latin typeface="Canva Sans Bold"/>
                <a:ea typeface="Canva Sans Bold"/>
                <a:cs typeface="Canva Sans Bold"/>
                <a:sym typeface="Canva Sans Bold"/>
              </a:rPr>
              <a:t>Medical History (Anxiety, Depression, PTSD) and Panic Attacks 🏥:</a:t>
            </a:r>
            <a:r>
              <a:rPr lang="en-US" sz="2306">
                <a:solidFill>
                  <a:srgbClr val="000000"/>
                </a:solidFill>
                <a:latin typeface="Canva Sans"/>
                <a:ea typeface="Canva Sans"/>
                <a:cs typeface="Canva Sans"/>
                <a:sym typeface="Canva Sans"/>
              </a:rPr>
              <a:t>A history of anxiety or PTSD shows a very weak positive correlation with panic attack frequency, while depression shows a very weak negative correlation.</a:t>
            </a:r>
          </a:p>
          <a:p>
            <a:pPr algn="just">
              <a:lnSpc>
                <a:spcPts val="3229"/>
              </a:lnSpc>
              <a:spcBef>
                <a:spcPct val="0"/>
              </a:spcBef>
            </a:pPr>
            <a:r>
              <a:rPr lang="en-US" sz="2306">
                <a:solidFill>
                  <a:srgbClr val="000000"/>
                </a:solidFill>
                <a:latin typeface="Canva Sans"/>
                <a:ea typeface="Canva Sans"/>
                <a:cs typeface="Canva Sans"/>
                <a:sym typeface="Canva Sans"/>
              </a:rPr>
              <a:t>These factors alone are not strong predictors of frequent or severe panic attacks.</a:t>
            </a:r>
          </a:p>
        </p:txBody>
      </p:sp>
      <p:sp>
        <p:nvSpPr>
          <p:cNvPr name="Freeform 17" id="17"/>
          <p:cNvSpPr/>
          <p:nvPr/>
        </p:nvSpPr>
        <p:spPr>
          <a:xfrm flipH="false" flipV="false" rot="0">
            <a:off x="12597806" y="3650617"/>
            <a:ext cx="4590895" cy="3920965"/>
          </a:xfrm>
          <a:custGeom>
            <a:avLst/>
            <a:gdLst/>
            <a:ahLst/>
            <a:cxnLst/>
            <a:rect r="r" b="b" t="t" l="l"/>
            <a:pathLst>
              <a:path h="3920965" w="4590895">
                <a:moveTo>
                  <a:pt x="0" y="0"/>
                </a:moveTo>
                <a:lnTo>
                  <a:pt x="4590895" y="0"/>
                </a:lnTo>
                <a:lnTo>
                  <a:pt x="4590895" y="3920965"/>
                </a:lnTo>
                <a:lnTo>
                  <a:pt x="0" y="3920965"/>
                </a:lnTo>
                <a:lnTo>
                  <a:pt x="0" y="0"/>
                </a:lnTo>
                <a:close/>
              </a:path>
            </a:pathLst>
          </a:custGeom>
          <a:blipFill>
            <a:blip r:embed="rId5"/>
            <a:stretch>
              <a:fillRect l="0" t="0" r="0" b="-4206"/>
            </a:stretch>
          </a:blipFill>
        </p:spPr>
      </p:sp>
      <p:sp>
        <p:nvSpPr>
          <p:cNvPr name="TextBox 18" id="18"/>
          <p:cNvSpPr txBox="true"/>
          <p:nvPr/>
        </p:nvSpPr>
        <p:spPr>
          <a:xfrm rot="0">
            <a:off x="434038" y="496113"/>
            <a:ext cx="8167068" cy="1308101"/>
          </a:xfrm>
          <a:prstGeom prst="rect">
            <a:avLst/>
          </a:prstGeom>
        </p:spPr>
        <p:txBody>
          <a:bodyPr anchor="t" rtlCol="false" tIns="0" lIns="0" bIns="0" rIns="0">
            <a:spAutoFit/>
          </a:bodyPr>
          <a:lstStyle/>
          <a:p>
            <a:pPr algn="l">
              <a:lnSpc>
                <a:spcPts val="5000"/>
              </a:lnSpc>
            </a:pPr>
            <a:r>
              <a:rPr lang="en-US" sz="5000" spc="125">
                <a:solidFill>
                  <a:srgbClr val="000000"/>
                </a:solidFill>
                <a:latin typeface="Gulfs Display"/>
                <a:ea typeface="Gulfs Display"/>
                <a:cs typeface="Gulfs Display"/>
                <a:sym typeface="Gulfs Display"/>
              </a:rPr>
              <a:t>FINDINGS ON P</a:t>
            </a:r>
            <a:r>
              <a:rPr lang="en-US" sz="5000" spc="125">
                <a:solidFill>
                  <a:srgbClr val="000000"/>
                </a:solidFill>
                <a:latin typeface="Gulfs Display"/>
                <a:ea typeface="Gulfs Display"/>
                <a:cs typeface="Gulfs Display"/>
                <a:sym typeface="Gulfs Display"/>
              </a:rPr>
              <a:t>ANIC ATTACK FACTORS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0" y="2826094"/>
            <a:ext cx="7458038" cy="745803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FFFFFF"/>
            </a:solidFill>
          </p:spPr>
        </p:sp>
        <p:sp>
          <p:nvSpPr>
            <p:cNvPr name="TextBox 5" id="5"/>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1795906"/>
            <a:ext cx="6947836" cy="6695188"/>
          </a:xfrm>
          <a:custGeom>
            <a:avLst/>
            <a:gdLst/>
            <a:ahLst/>
            <a:cxnLst/>
            <a:rect r="r" b="b" t="t" l="l"/>
            <a:pathLst>
              <a:path h="6695188" w="6947836">
                <a:moveTo>
                  <a:pt x="0" y="0"/>
                </a:moveTo>
                <a:lnTo>
                  <a:pt x="6947836" y="0"/>
                </a:lnTo>
                <a:lnTo>
                  <a:pt x="6947836" y="6695188"/>
                </a:lnTo>
                <a:lnTo>
                  <a:pt x="0" y="6695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8504566" y="3243991"/>
            <a:ext cx="9152239" cy="6014309"/>
            <a:chOff x="0" y="0"/>
            <a:chExt cx="2410466" cy="1584016"/>
          </a:xfrm>
        </p:grpSpPr>
        <p:sp>
          <p:nvSpPr>
            <p:cNvPr name="Freeform 8" id="8"/>
            <p:cNvSpPr/>
            <p:nvPr/>
          </p:nvSpPr>
          <p:spPr>
            <a:xfrm flipH="false" flipV="false" rot="0">
              <a:off x="0" y="0"/>
              <a:ext cx="2410466" cy="1584016"/>
            </a:xfrm>
            <a:custGeom>
              <a:avLst/>
              <a:gdLst/>
              <a:ahLst/>
              <a:cxnLst/>
              <a:rect r="r" b="b" t="t" l="l"/>
              <a:pathLst>
                <a:path h="1584016" w="2410466">
                  <a:moveTo>
                    <a:pt x="43141" y="0"/>
                  </a:moveTo>
                  <a:lnTo>
                    <a:pt x="2367325" y="0"/>
                  </a:lnTo>
                  <a:cubicBezTo>
                    <a:pt x="2391151" y="0"/>
                    <a:pt x="2410466" y="19315"/>
                    <a:pt x="2410466" y="43141"/>
                  </a:cubicBezTo>
                  <a:lnTo>
                    <a:pt x="2410466" y="1540874"/>
                  </a:lnTo>
                  <a:cubicBezTo>
                    <a:pt x="2410466" y="1552316"/>
                    <a:pt x="2405921" y="1563289"/>
                    <a:pt x="2397831" y="1571380"/>
                  </a:cubicBezTo>
                  <a:cubicBezTo>
                    <a:pt x="2389740" y="1579470"/>
                    <a:pt x="2378767" y="1584016"/>
                    <a:pt x="2367325" y="1584016"/>
                  </a:cubicBezTo>
                  <a:lnTo>
                    <a:pt x="43141" y="1584016"/>
                  </a:lnTo>
                  <a:cubicBezTo>
                    <a:pt x="31699" y="1584016"/>
                    <a:pt x="20726" y="1579470"/>
                    <a:pt x="12636" y="1571380"/>
                  </a:cubicBezTo>
                  <a:cubicBezTo>
                    <a:pt x="4545" y="1563289"/>
                    <a:pt x="0" y="1552316"/>
                    <a:pt x="0" y="1540874"/>
                  </a:cubicBezTo>
                  <a:lnTo>
                    <a:pt x="0" y="43141"/>
                  </a:lnTo>
                  <a:cubicBezTo>
                    <a:pt x="0" y="31699"/>
                    <a:pt x="4545" y="20726"/>
                    <a:pt x="12636" y="12636"/>
                  </a:cubicBezTo>
                  <a:cubicBezTo>
                    <a:pt x="20726" y="4545"/>
                    <a:pt x="31699" y="0"/>
                    <a:pt x="43141" y="0"/>
                  </a:cubicBezTo>
                  <a:close/>
                </a:path>
              </a:pathLst>
            </a:custGeom>
            <a:solidFill>
              <a:srgbClr val="FFFFFF"/>
            </a:solidFill>
          </p:spPr>
        </p:sp>
        <p:sp>
          <p:nvSpPr>
            <p:cNvPr name="TextBox 9" id="9"/>
            <p:cNvSpPr txBox="true"/>
            <p:nvPr/>
          </p:nvSpPr>
          <p:spPr>
            <a:xfrm>
              <a:off x="0" y="-38100"/>
              <a:ext cx="2410466" cy="162211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504566" y="1283044"/>
            <a:ext cx="8754734" cy="1543050"/>
            <a:chOff x="0" y="0"/>
            <a:chExt cx="2305773" cy="406400"/>
          </a:xfrm>
        </p:grpSpPr>
        <p:sp>
          <p:nvSpPr>
            <p:cNvPr name="Freeform 11" id="11"/>
            <p:cNvSpPr/>
            <p:nvPr/>
          </p:nvSpPr>
          <p:spPr>
            <a:xfrm flipH="false" flipV="false" rot="0">
              <a:off x="0" y="0"/>
              <a:ext cx="2305773" cy="406400"/>
            </a:xfrm>
            <a:custGeom>
              <a:avLst/>
              <a:gdLst/>
              <a:ahLst/>
              <a:cxnLst/>
              <a:rect r="r" b="b" t="t" l="l"/>
              <a:pathLst>
                <a:path h="406400" w="2305773">
                  <a:moveTo>
                    <a:pt x="2102573" y="0"/>
                  </a:moveTo>
                  <a:cubicBezTo>
                    <a:pt x="2214798" y="0"/>
                    <a:pt x="2305773" y="90976"/>
                    <a:pt x="2305773" y="203200"/>
                  </a:cubicBezTo>
                  <a:cubicBezTo>
                    <a:pt x="2305773" y="315424"/>
                    <a:pt x="2214798" y="406400"/>
                    <a:pt x="2102573" y="406400"/>
                  </a:cubicBezTo>
                  <a:lnTo>
                    <a:pt x="203200" y="406400"/>
                  </a:lnTo>
                  <a:cubicBezTo>
                    <a:pt x="90976" y="406400"/>
                    <a:pt x="0" y="315424"/>
                    <a:pt x="0" y="203200"/>
                  </a:cubicBezTo>
                  <a:cubicBezTo>
                    <a:pt x="0" y="90976"/>
                    <a:pt x="90976" y="0"/>
                    <a:pt x="203200" y="0"/>
                  </a:cubicBezTo>
                  <a:close/>
                </a:path>
              </a:pathLst>
            </a:custGeom>
            <a:solidFill>
              <a:srgbClr val="F2C275"/>
            </a:solidFill>
          </p:spPr>
        </p:sp>
        <p:sp>
          <p:nvSpPr>
            <p:cNvPr name="TextBox 12" id="12"/>
            <p:cNvSpPr txBox="true"/>
            <p:nvPr/>
          </p:nvSpPr>
          <p:spPr>
            <a:xfrm>
              <a:off x="0" y="-133350"/>
              <a:ext cx="2305773" cy="539750"/>
            </a:xfrm>
            <a:prstGeom prst="rect">
              <a:avLst/>
            </a:prstGeom>
          </p:spPr>
          <p:txBody>
            <a:bodyPr anchor="ctr" rtlCol="false" tIns="38100" lIns="38100" bIns="38100" rIns="38100"/>
            <a:lstStyle/>
            <a:p>
              <a:pPr algn="ctr">
                <a:lnSpc>
                  <a:spcPts val="10080"/>
                </a:lnSpc>
              </a:pPr>
              <a:r>
                <a:rPr lang="en-US" sz="7200" spc="179">
                  <a:solidFill>
                    <a:srgbClr val="FFFFFF"/>
                  </a:solidFill>
                  <a:latin typeface="Gulfs Display"/>
                  <a:ea typeface="Gulfs Display"/>
                  <a:cs typeface="Gulfs Display"/>
                  <a:sym typeface="Gulfs Display"/>
                </a:rPr>
                <a:t>CONCLUSION</a:t>
              </a:r>
            </a:p>
          </p:txBody>
        </p:sp>
      </p:grpSp>
      <p:grpSp>
        <p:nvGrpSpPr>
          <p:cNvPr name="Group 13" id="13"/>
          <p:cNvGrpSpPr/>
          <p:nvPr/>
        </p:nvGrpSpPr>
        <p:grpSpPr>
          <a:xfrm rot="0">
            <a:off x="632423" y="5143500"/>
            <a:ext cx="792553" cy="79255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5990292" y="886767"/>
            <a:ext cx="792553" cy="79255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5381848" y="7869660"/>
            <a:ext cx="621433" cy="62143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5400000">
            <a:off x="7377617" y="8028826"/>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5">
              <a:extLst>
                <a:ext uri="{96DAC541-7B7A-43D3-8B79-37D633B846F1}">
                  <asvg:svgBlip xmlns:asvg="http://schemas.microsoft.com/office/drawing/2016/SVG/main" r:embed="rId6"/>
                </a:ext>
              </a:extLst>
            </a:blip>
            <a:stretch>
              <a:fillRect l="-185397" t="0" r="0" b="-187643"/>
            </a:stretch>
          </a:blipFill>
        </p:spPr>
      </p:sp>
      <p:sp>
        <p:nvSpPr>
          <p:cNvPr name="Freeform 23" id="23"/>
          <p:cNvSpPr/>
          <p:nvPr/>
        </p:nvSpPr>
        <p:spPr>
          <a:xfrm flipH="false" flipV="false" rot="-10800000">
            <a:off x="3242074" y="670021"/>
            <a:ext cx="1715975" cy="717357"/>
          </a:xfrm>
          <a:custGeom>
            <a:avLst/>
            <a:gdLst/>
            <a:ahLst/>
            <a:cxnLst/>
            <a:rect r="r" b="b" t="t" l="l"/>
            <a:pathLst>
              <a:path h="717357" w="1715975">
                <a:moveTo>
                  <a:pt x="0" y="0"/>
                </a:moveTo>
                <a:lnTo>
                  <a:pt x="1715975" y="0"/>
                </a:lnTo>
                <a:lnTo>
                  <a:pt x="1715975" y="717358"/>
                </a:lnTo>
                <a:lnTo>
                  <a:pt x="0" y="717358"/>
                </a:lnTo>
                <a:lnTo>
                  <a:pt x="0" y="0"/>
                </a:lnTo>
                <a:close/>
              </a:path>
            </a:pathLst>
          </a:custGeom>
          <a:blipFill>
            <a:blip r:embed="rId7">
              <a:extLst>
                <a:ext uri="{96DAC541-7B7A-43D3-8B79-37D633B846F1}">
                  <asvg:svgBlip xmlns:asvg="http://schemas.microsoft.com/office/drawing/2016/SVG/main" r:embed="rId8"/>
                </a:ext>
              </a:extLst>
            </a:blip>
            <a:stretch>
              <a:fillRect l="0" t="-107827" r="-278167" b="-555331"/>
            </a:stretch>
          </a:blipFill>
        </p:spPr>
      </p:sp>
      <p:sp>
        <p:nvSpPr>
          <p:cNvPr name="TextBox 24" id="24"/>
          <p:cNvSpPr txBox="true"/>
          <p:nvPr/>
        </p:nvSpPr>
        <p:spPr>
          <a:xfrm rot="0">
            <a:off x="8504566" y="3756098"/>
            <a:ext cx="8754734" cy="4312286"/>
          </a:xfrm>
          <a:prstGeom prst="rect">
            <a:avLst/>
          </a:prstGeom>
        </p:spPr>
        <p:txBody>
          <a:bodyPr anchor="t" rtlCol="false" tIns="0" lIns="0" bIns="0" rIns="0">
            <a:spAutoFit/>
          </a:bodyPr>
          <a:lstStyle/>
          <a:p>
            <a:pPr algn="just" marL="669283" indent="-334641" lvl="1">
              <a:lnSpc>
                <a:spcPts val="4339"/>
              </a:lnSpc>
              <a:buFont typeface="Arial"/>
              <a:buChar char="•"/>
            </a:pPr>
            <a:r>
              <a:rPr lang="en-US" sz="3099">
                <a:solidFill>
                  <a:srgbClr val="000000"/>
                </a:solidFill>
                <a:latin typeface="Canva Sans"/>
                <a:ea typeface="Canva Sans"/>
                <a:cs typeface="Canva Sans"/>
                <a:sym typeface="Canva Sans"/>
              </a:rPr>
              <a:t>No single factor strongly predicts panic attacks.</a:t>
            </a:r>
          </a:p>
          <a:p>
            <a:pPr algn="just" marL="669283" indent="-334641" lvl="1">
              <a:lnSpc>
                <a:spcPts val="4339"/>
              </a:lnSpc>
              <a:buFont typeface="Arial"/>
              <a:buChar char="•"/>
            </a:pPr>
            <a:r>
              <a:rPr lang="en-US" sz="3099">
                <a:solidFill>
                  <a:srgbClr val="000000"/>
                </a:solidFill>
                <a:latin typeface="Canva Sans"/>
                <a:ea typeface="Canva Sans"/>
                <a:cs typeface="Canva Sans"/>
                <a:sym typeface="Canva Sans"/>
              </a:rPr>
              <a:t>A combination of factors (like stress, mental health history, and sleep patterns) may be more useful for analysis.</a:t>
            </a:r>
          </a:p>
          <a:p>
            <a:pPr algn="just" marL="669283" indent="-334641" lvl="1">
              <a:lnSpc>
                <a:spcPts val="4339"/>
              </a:lnSpc>
              <a:buFont typeface="Arial"/>
              <a:buChar char="•"/>
            </a:pPr>
            <a:r>
              <a:rPr lang="en-US" sz="3099">
                <a:solidFill>
                  <a:srgbClr val="000000"/>
                </a:solidFill>
                <a:latin typeface="Canva Sans"/>
                <a:ea typeface="Canva Sans"/>
                <a:cs typeface="Canva Sans"/>
                <a:sym typeface="Canva Sans"/>
              </a:rPr>
              <a:t>Further machine learning or statistical testing could help uncover hidden patterns.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080436" y="1884026"/>
            <a:ext cx="10300107" cy="2902733"/>
            <a:chOff x="0" y="0"/>
            <a:chExt cx="2523634" cy="711200"/>
          </a:xfrm>
        </p:grpSpPr>
        <p:sp>
          <p:nvSpPr>
            <p:cNvPr name="Freeform 4" id="4"/>
            <p:cNvSpPr/>
            <p:nvPr/>
          </p:nvSpPr>
          <p:spPr>
            <a:xfrm flipH="false" flipV="false" rot="0">
              <a:off x="0" y="0"/>
              <a:ext cx="2523634" cy="711200"/>
            </a:xfrm>
            <a:custGeom>
              <a:avLst/>
              <a:gdLst/>
              <a:ahLst/>
              <a:cxnLst/>
              <a:rect r="r" b="b" t="t" l="l"/>
              <a:pathLst>
                <a:path h="711200" w="2523634">
                  <a:moveTo>
                    <a:pt x="2212060" y="0"/>
                  </a:moveTo>
                  <a:lnTo>
                    <a:pt x="282407" y="0"/>
                  </a:lnTo>
                  <a:cubicBezTo>
                    <a:pt x="126426" y="0"/>
                    <a:pt x="0" y="123512"/>
                    <a:pt x="0" y="275871"/>
                  </a:cubicBezTo>
                  <a:cubicBezTo>
                    <a:pt x="0" y="386169"/>
                    <a:pt x="66279" y="481310"/>
                    <a:pt x="162037" y="525451"/>
                  </a:cubicBezTo>
                  <a:lnTo>
                    <a:pt x="162037" y="711200"/>
                  </a:lnTo>
                  <a:lnTo>
                    <a:pt x="353844" y="551732"/>
                  </a:lnTo>
                  <a:lnTo>
                    <a:pt x="2212060" y="551732"/>
                  </a:lnTo>
                  <a:cubicBezTo>
                    <a:pt x="2397197" y="551732"/>
                    <a:pt x="2523634" y="428220"/>
                    <a:pt x="2523634" y="275861"/>
                  </a:cubicBezTo>
                  <a:cubicBezTo>
                    <a:pt x="2523646" y="123512"/>
                    <a:pt x="2397197" y="0"/>
                    <a:pt x="2212060" y="0"/>
                  </a:cubicBezTo>
                  <a:close/>
                </a:path>
              </a:pathLst>
            </a:custGeom>
            <a:solidFill>
              <a:srgbClr val="F2C275"/>
            </a:solidFill>
          </p:spPr>
        </p:sp>
        <p:sp>
          <p:nvSpPr>
            <p:cNvPr name="TextBox 5" id="5"/>
            <p:cNvSpPr txBox="true"/>
            <p:nvPr/>
          </p:nvSpPr>
          <p:spPr>
            <a:xfrm>
              <a:off x="0" y="0"/>
              <a:ext cx="2523634" cy="5207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44000" y="4326696"/>
            <a:ext cx="9087297" cy="6295018"/>
          </a:xfrm>
          <a:custGeom>
            <a:avLst/>
            <a:gdLst/>
            <a:ahLst/>
            <a:cxnLst/>
            <a:rect r="r" b="b" t="t" l="l"/>
            <a:pathLst>
              <a:path h="6295018" w="9087297">
                <a:moveTo>
                  <a:pt x="0" y="0"/>
                </a:moveTo>
                <a:lnTo>
                  <a:pt x="9087297" y="0"/>
                </a:lnTo>
                <a:lnTo>
                  <a:pt x="9087297" y="6295019"/>
                </a:lnTo>
                <a:lnTo>
                  <a:pt x="0" y="62950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4040223"/>
            <a:ext cx="8160873" cy="6246777"/>
          </a:xfrm>
          <a:custGeom>
            <a:avLst/>
            <a:gdLst/>
            <a:ahLst/>
            <a:cxnLst/>
            <a:rect r="r" b="b" t="t" l="l"/>
            <a:pathLst>
              <a:path h="6246777" w="8160873">
                <a:moveTo>
                  <a:pt x="0" y="0"/>
                </a:moveTo>
                <a:lnTo>
                  <a:pt x="8160873" y="0"/>
                </a:lnTo>
                <a:lnTo>
                  <a:pt x="8160873" y="6246777"/>
                </a:lnTo>
                <a:lnTo>
                  <a:pt x="0" y="62467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274651" y="8165545"/>
            <a:ext cx="2476390" cy="1363941"/>
          </a:xfrm>
          <a:custGeom>
            <a:avLst/>
            <a:gdLst/>
            <a:ahLst/>
            <a:cxnLst/>
            <a:rect r="r" b="b" t="t" l="l"/>
            <a:pathLst>
              <a:path h="1363941" w="2476390">
                <a:moveTo>
                  <a:pt x="0" y="0"/>
                </a:moveTo>
                <a:lnTo>
                  <a:pt x="2476390" y="0"/>
                </a:lnTo>
                <a:lnTo>
                  <a:pt x="2476390" y="1363941"/>
                </a:lnTo>
                <a:lnTo>
                  <a:pt x="0" y="1363941"/>
                </a:lnTo>
                <a:lnTo>
                  <a:pt x="0" y="0"/>
                </a:lnTo>
                <a:close/>
              </a:path>
            </a:pathLst>
          </a:custGeom>
          <a:blipFill>
            <a:blip r:embed="rId7">
              <a:extLst>
                <a:ext uri="{96DAC541-7B7A-43D3-8B79-37D633B846F1}">
                  <asvg:svgBlip xmlns:asvg="http://schemas.microsoft.com/office/drawing/2016/SVG/main" r:embed="rId8"/>
                </a:ext>
              </a:extLst>
            </a:blip>
            <a:stretch>
              <a:fillRect l="-240079" t="-203668" r="0" b="-83643"/>
            </a:stretch>
          </a:blipFill>
        </p:spPr>
      </p:sp>
      <p:sp>
        <p:nvSpPr>
          <p:cNvPr name="TextBox 9" id="9"/>
          <p:cNvSpPr txBox="true"/>
          <p:nvPr/>
        </p:nvSpPr>
        <p:spPr>
          <a:xfrm rot="0">
            <a:off x="3953641" y="1930571"/>
            <a:ext cx="10553698" cy="1717676"/>
          </a:xfrm>
          <a:prstGeom prst="rect">
            <a:avLst/>
          </a:prstGeom>
        </p:spPr>
        <p:txBody>
          <a:bodyPr anchor="t" rtlCol="false" tIns="0" lIns="0" bIns="0" rIns="0">
            <a:spAutoFit/>
          </a:bodyPr>
          <a:lstStyle/>
          <a:p>
            <a:pPr algn="ctr">
              <a:lnSpc>
                <a:spcPts val="13999"/>
              </a:lnSpc>
              <a:spcBef>
                <a:spcPct val="0"/>
              </a:spcBef>
            </a:pPr>
            <a:r>
              <a:rPr lang="en-US" sz="9999" spc="249">
                <a:solidFill>
                  <a:srgbClr val="FFFFFF"/>
                </a:solidFill>
                <a:latin typeface="Gulfs Display"/>
                <a:ea typeface="Gulfs Display"/>
                <a:cs typeface="Gulfs Display"/>
                <a:sym typeface="Gulfs Display"/>
              </a:rPr>
              <a:t>THANK YOU</a:t>
            </a:r>
          </a:p>
        </p:txBody>
      </p:sp>
      <p:sp>
        <p:nvSpPr>
          <p:cNvPr name="Freeform 10" id="10"/>
          <p:cNvSpPr/>
          <p:nvPr/>
        </p:nvSpPr>
        <p:spPr>
          <a:xfrm flipH="false" flipV="false" rot="-10796128">
            <a:off x="-363166" y="-692612"/>
            <a:ext cx="2813609" cy="3442624"/>
          </a:xfrm>
          <a:custGeom>
            <a:avLst/>
            <a:gdLst/>
            <a:ahLst/>
            <a:cxnLst/>
            <a:rect r="r" b="b" t="t" l="l"/>
            <a:pathLst>
              <a:path h="3442624" w="2813609">
                <a:moveTo>
                  <a:pt x="0" y="0"/>
                </a:moveTo>
                <a:lnTo>
                  <a:pt x="2813609" y="0"/>
                </a:lnTo>
                <a:lnTo>
                  <a:pt x="2813609" y="3442624"/>
                </a:lnTo>
                <a:lnTo>
                  <a:pt x="0" y="3442624"/>
                </a:lnTo>
                <a:lnTo>
                  <a:pt x="0" y="0"/>
                </a:lnTo>
                <a:close/>
              </a:path>
            </a:pathLst>
          </a:custGeom>
          <a:blipFill>
            <a:blip r:embed="rId9">
              <a:extLst>
                <a:ext uri="{96DAC541-7B7A-43D3-8B79-37D633B846F1}">
                  <asvg:svgBlip xmlns:asvg="http://schemas.microsoft.com/office/drawing/2016/SVG/main" r:embed="rId10"/>
                </a:ext>
              </a:extLst>
            </a:blip>
            <a:stretch>
              <a:fillRect l="-343605" t="0" r="0" b="-108962"/>
            </a:stretch>
          </a:blipFill>
        </p:spPr>
      </p:sp>
      <p:sp>
        <p:nvSpPr>
          <p:cNvPr name="Freeform 11" id="11"/>
          <p:cNvSpPr/>
          <p:nvPr/>
        </p:nvSpPr>
        <p:spPr>
          <a:xfrm flipH="false" flipV="false" rot="0">
            <a:off x="12188844" y="4786759"/>
            <a:ext cx="1754742" cy="878459"/>
          </a:xfrm>
          <a:custGeom>
            <a:avLst/>
            <a:gdLst/>
            <a:ahLst/>
            <a:cxnLst/>
            <a:rect r="r" b="b" t="t" l="l"/>
            <a:pathLst>
              <a:path h="878459" w="1754742">
                <a:moveTo>
                  <a:pt x="0" y="0"/>
                </a:moveTo>
                <a:lnTo>
                  <a:pt x="1754742" y="0"/>
                </a:lnTo>
                <a:lnTo>
                  <a:pt x="1754742" y="878459"/>
                </a:lnTo>
                <a:lnTo>
                  <a:pt x="0" y="878459"/>
                </a:lnTo>
                <a:lnTo>
                  <a:pt x="0" y="0"/>
                </a:lnTo>
                <a:close/>
              </a:path>
            </a:pathLst>
          </a:custGeom>
          <a:blipFill>
            <a:blip r:embed="rId11">
              <a:extLst>
                <a:ext uri="{96DAC541-7B7A-43D3-8B79-37D633B846F1}">
                  <asvg:svgBlip xmlns:asvg="http://schemas.microsoft.com/office/drawing/2016/SVG/main" r:embed="rId12"/>
                </a:ext>
              </a:extLst>
            </a:blip>
            <a:stretch>
              <a:fillRect l="-32053" t="0" r="-126199" b="-328636"/>
            </a:stretch>
          </a:blipFill>
        </p:spPr>
      </p:sp>
      <p:sp>
        <p:nvSpPr>
          <p:cNvPr name="Freeform 12" id="12"/>
          <p:cNvSpPr/>
          <p:nvPr/>
        </p:nvSpPr>
        <p:spPr>
          <a:xfrm flipH="false" flipV="false" rot="10542490">
            <a:off x="15985681" y="1035664"/>
            <a:ext cx="1574871" cy="1602388"/>
          </a:xfrm>
          <a:custGeom>
            <a:avLst/>
            <a:gdLst/>
            <a:ahLst/>
            <a:cxnLst/>
            <a:rect r="r" b="b" t="t" l="l"/>
            <a:pathLst>
              <a:path h="1602388" w="1574871">
                <a:moveTo>
                  <a:pt x="0" y="0"/>
                </a:moveTo>
                <a:lnTo>
                  <a:pt x="1574871" y="0"/>
                </a:lnTo>
                <a:lnTo>
                  <a:pt x="1574871" y="1602389"/>
                </a:lnTo>
                <a:lnTo>
                  <a:pt x="0" y="1602389"/>
                </a:lnTo>
                <a:lnTo>
                  <a:pt x="0" y="0"/>
                </a:lnTo>
                <a:close/>
              </a:path>
            </a:pathLst>
          </a:custGeom>
          <a:blipFill>
            <a:blip r:embed="rId13">
              <a:extLst>
                <a:ext uri="{96DAC541-7B7A-43D3-8B79-37D633B846F1}">
                  <asvg:svgBlip xmlns:asvg="http://schemas.microsoft.com/office/drawing/2016/SVG/main" r:embed="rId14"/>
                </a:ext>
              </a:extLst>
            </a:blip>
            <a:stretch>
              <a:fillRect l="-367834" t="-44527" r="0" b="-243376"/>
            </a:stretch>
          </a:blipFill>
        </p:spPr>
      </p:sp>
      <p:grpSp>
        <p:nvGrpSpPr>
          <p:cNvPr name="Group 13" id="13"/>
          <p:cNvGrpSpPr/>
          <p:nvPr/>
        </p:nvGrpSpPr>
        <p:grpSpPr>
          <a:xfrm rot="0">
            <a:off x="2141664" y="2829601"/>
            <a:ext cx="621433" cy="62143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466069" y="4820122"/>
            <a:ext cx="621433" cy="62143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376932" y="407267"/>
            <a:ext cx="621433" cy="62143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6274651" y="505818"/>
            <a:ext cx="850316" cy="946328"/>
          </a:xfrm>
          <a:custGeom>
            <a:avLst/>
            <a:gdLst/>
            <a:ahLst/>
            <a:cxnLst/>
            <a:rect r="r" b="b" t="t" l="l"/>
            <a:pathLst>
              <a:path h="946328" w="850316">
                <a:moveTo>
                  <a:pt x="0" y="0"/>
                </a:moveTo>
                <a:lnTo>
                  <a:pt x="850317" y="0"/>
                </a:lnTo>
                <a:lnTo>
                  <a:pt x="850317" y="946328"/>
                </a:lnTo>
                <a:lnTo>
                  <a:pt x="0" y="946328"/>
                </a:lnTo>
                <a:lnTo>
                  <a:pt x="0" y="0"/>
                </a:lnTo>
                <a:close/>
              </a:path>
            </a:pathLst>
          </a:custGeom>
          <a:blipFill>
            <a:blip r:embed="rId15">
              <a:extLst>
                <a:ext uri="{96DAC541-7B7A-43D3-8B79-37D633B846F1}">
                  <asvg:svgBlip xmlns:asvg="http://schemas.microsoft.com/office/drawing/2016/SVG/main" r:embed="rId16"/>
                </a:ext>
              </a:extLst>
            </a:blip>
            <a:stretch>
              <a:fillRect l="0" t="-67133" r="-676375" b="-245089"/>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DAGlgZAAMIc</dc:identifier>
  <dcterms:modified xsi:type="dcterms:W3CDTF">2011-08-01T06:04:30Z</dcterms:modified>
  <cp:revision>1</cp:revision>
  <dc:title>Third  Presentation by Charushree Anil</dc:title>
</cp:coreProperties>
</file>